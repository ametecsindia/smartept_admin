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SmartEPT cover — Employee Productivity Tracking &amp; Intelligence by Ametecs. Three USPs: Gate-to-PC, data ownership, perpetual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pains: proxy punching, invisible idle time, data on other clouds, endless rental.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product, three parts: console, agent, central. Trust: visible +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USPs in one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Gate-to-PC flow + what it stops + fail-safe.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ownership: on-prem vs managed cloud, same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Perpetual vs rent comparison, from Rs 25,000 one-time.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grid — all included, no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Transparent 0-100 productivity score + compliance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vs Perpetual pricing, all features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Ametecs credibility + product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CTA: 7-day free trial, WhatsApp 90000 98877, sales@ametecsindia.com.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G">
    <p:bg>
      <p:bgPr>
        <a:solidFill>
          <a:srgbClr val="F4F7F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A33"/>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0E7C8F"/>
          </a:solidFill>
          <a:ln/>
        </p:spPr>
      </p:sp>
      <p:sp>
        <p:nvSpPr>
          <p:cNvPr id="3" name="Shape 1"/>
          <p:cNvSpPr/>
          <p:nvPr/>
        </p:nvSpPr>
        <p:spPr>
          <a:xfrm>
            <a:off x="10881360" y="1280160"/>
            <a:ext cx="2377440" cy="2377440"/>
          </a:xfrm>
          <a:prstGeom prst="ellipse">
            <a:avLst/>
          </a:prstGeom>
          <a:solidFill>
            <a:srgbClr val="22B8CF"/>
          </a:solidFill>
          <a:ln/>
        </p:spPr>
      </p:sp>
      <p:sp>
        <p:nvSpPr>
          <p:cNvPr id="4" name="Shape 2"/>
          <p:cNvSpPr/>
          <p:nvPr/>
        </p:nvSpPr>
        <p:spPr>
          <a:xfrm>
            <a:off x="-1097280" y="4937760"/>
            <a:ext cx="3291840" cy="3291840"/>
          </a:xfrm>
          <a:prstGeom prst="ellipse">
            <a:avLst/>
          </a:prstGeom>
          <a:solidFill>
            <a:srgbClr val="0B4A56"/>
          </a:solidFill>
          <a:ln/>
        </p:spPr>
      </p:sp>
      <p:pic>
        <p:nvPicPr>
          <p:cNvPr id="5" name="Image 0" descr="/tmp/mkdoc/logo-light.png">    </p:cNvPr>
          <p:cNvPicPr>
            <a:picLocks noChangeAspect="1"/>
          </p:cNvPicPr>
          <p:nvPr/>
        </p:nvPicPr>
        <p:blipFill>
          <a:blip r:embed="rId1"/>
          <a:stretch>
            <a:fillRect/>
          </a:stretch>
        </p:blipFill>
        <p:spPr>
          <a:xfrm>
            <a:off x="822960" y="777240"/>
            <a:ext cx="2651760" cy="1917426"/>
          </a:xfrm>
          <a:prstGeom prst="rect">
            <a:avLst/>
          </a:prstGeom>
        </p:spPr>
      </p:pic>
      <p:sp>
        <p:nvSpPr>
          <p:cNvPr id="6" name="Text 3"/>
          <p:cNvSpPr/>
          <p:nvPr/>
        </p:nvSpPr>
        <p:spPr>
          <a:xfrm>
            <a:off x="822960" y="2743200"/>
            <a:ext cx="8961120" cy="10972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See where the workday really goes.</a:t>
            </a:r>
            <a:endParaRPr lang="en-US" sz="4000" dirty="0"/>
          </a:p>
        </p:txBody>
      </p:sp>
      <p:sp>
        <p:nvSpPr>
          <p:cNvPr id="7" name="Text 4"/>
          <p:cNvSpPr/>
          <p:nvPr/>
        </p:nvSpPr>
        <p:spPr>
          <a:xfrm>
            <a:off x="822960" y="3977640"/>
            <a:ext cx="8595360" cy="1005840"/>
          </a:xfrm>
          <a:prstGeom prst="rect">
            <a:avLst/>
          </a:prstGeom>
          <a:noFill/>
          <a:ln/>
        </p:spPr>
        <p:txBody>
          <a:bodyPr wrap="square" lIns="0" tIns="0" rIns="0" bIns="0" rtlCol="0" anchor="ctr"/>
          <a:lstStyle/>
          <a:p>
            <a:pPr indent="0" marL="0">
              <a:buNone/>
            </a:pPr>
            <a:r>
              <a:rPr lang="en-US" sz="1600" dirty="0">
                <a:solidFill>
                  <a:srgbClr val="CFE3E7"/>
                </a:solidFill>
                <a:latin typeface="Calibri" pitchFamily="34" charset="0"/>
                <a:ea typeface="Calibri" pitchFamily="34" charset="-122"/>
                <a:cs typeface="Calibri" pitchFamily="34" charset="-120"/>
              </a:rPr>
              <a:t>Employee Productivity Tracking &amp; Intelligence — attendance, active time, apps &amp; websites, breaks, meetings, and a clear productivity score. On your cloud, or on your own servers.</a:t>
            </a:r>
            <a:endParaRPr lang="en-US" sz="1600" dirty="0"/>
          </a:p>
        </p:txBody>
      </p:sp>
      <p:sp>
        <p:nvSpPr>
          <p:cNvPr id="8" name="Text 5"/>
          <p:cNvSpPr/>
          <p:nvPr/>
        </p:nvSpPr>
        <p:spPr>
          <a:xfrm>
            <a:off x="822960" y="5212080"/>
            <a:ext cx="10058400" cy="365760"/>
          </a:xfrm>
          <a:prstGeom prst="rect">
            <a:avLst/>
          </a:prstGeom>
          <a:noFill/>
          <a:ln/>
        </p:spPr>
        <p:txBody>
          <a:bodyPr wrap="square" lIns="0" tIns="0" rIns="0" bIns="0" rtlCol="0" anchor="ctr"/>
          <a:lstStyle/>
          <a:p>
            <a:pPr indent="0" marL="0">
              <a:buNone/>
            </a:pPr>
            <a:r>
              <a:rPr lang="en-US" sz="1300" dirty="0">
                <a:solidFill>
                  <a:srgbClr val="9FC5CC"/>
                </a:solidFill>
                <a:latin typeface="Calibri" pitchFamily="34" charset="0"/>
                <a:ea typeface="Calibri" pitchFamily="34" charset="-122"/>
                <a:cs typeface="Calibri" pitchFamily="34" charset="-120"/>
              </a:rPr>
              <a:t>by </a:t>
            </a:r>
            <a:pPr indent="0" marL="0">
              <a:buNone/>
            </a:pPr>
            <a:r>
              <a:rPr lang="en-US" sz="1300" b="1" dirty="0">
                <a:solidFill>
                  <a:srgbClr val="31D2E8"/>
                </a:solidFill>
                <a:latin typeface="Calibri" pitchFamily="34" charset="0"/>
                <a:ea typeface="Calibri" pitchFamily="34" charset="-122"/>
                <a:cs typeface="Calibri" pitchFamily="34" charset="-120"/>
              </a:rPr>
              <a:t>AMETECS</a:t>
            </a:r>
            <a:pPr indent="0" marL="0">
              <a:buNone/>
            </a:pPr>
            <a:r>
              <a:rPr lang="en-US" sz="1300" dirty="0">
                <a:solidFill>
                  <a:srgbClr val="9FC5CC"/>
                </a:solidFill>
                <a:latin typeface="Calibri" pitchFamily="34" charset="0"/>
                <a:ea typeface="Calibri" pitchFamily="34" charset="-122"/>
                <a:cs typeface="Calibri" pitchFamily="34" charset="-120"/>
              </a:rPr>
              <a:t>   ·   Industry-first Gate-to-PC   ·   Your data, your walls   ·   Own it forever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The workday has blind spots</a:t>
            </a:r>
            <a:endParaRPr lang="en-US" sz="3400" dirty="0"/>
          </a:p>
        </p:txBody>
      </p:sp>
      <p:sp>
        <p:nvSpPr>
          <p:cNvPr id="4" name="Shape 2"/>
          <p:cNvSpPr/>
          <p:nvPr/>
        </p:nvSpPr>
        <p:spPr>
          <a:xfrm>
            <a:off x="822960" y="1874520"/>
            <a:ext cx="5303520" cy="1920240"/>
          </a:xfrm>
          <a:prstGeom prst="roundRect">
            <a:avLst>
              <a:gd name="adj" fmla="val 5714"/>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Shape 3"/>
          <p:cNvSpPr/>
          <p:nvPr/>
        </p:nvSpPr>
        <p:spPr>
          <a:xfrm>
            <a:off x="1143000" y="2194560"/>
            <a:ext cx="640080" cy="640080"/>
          </a:xfrm>
          <a:prstGeom prst="ellipse">
            <a:avLst/>
          </a:prstGeom>
          <a:solidFill>
            <a:srgbClr val="E1F3F6"/>
          </a:solidFill>
          <a:ln/>
        </p:spPr>
      </p:sp>
      <p:sp>
        <p:nvSpPr>
          <p:cNvPr id="6" name="Text 4"/>
          <p:cNvSpPr/>
          <p:nvPr/>
        </p:nvSpPr>
        <p:spPr>
          <a:xfrm>
            <a:off x="1143000" y="2194560"/>
            <a:ext cx="640080" cy="640080"/>
          </a:xfrm>
          <a:prstGeom prst="rect">
            <a:avLst/>
          </a:prstGeom>
          <a:noFill/>
          <a:ln/>
        </p:spPr>
        <p:txBody>
          <a:bodyPr wrap="square" lIns="0" tIns="0" rIns="0" bIns="0" rtlCol="0" anchor="ctr"/>
          <a:lstStyle/>
          <a:p>
            <a:pPr algn="ctr" indent="0" marL="0">
              <a:buNone/>
            </a:pPr>
            <a:r>
              <a:rPr lang="en-US" sz="2000" b="1" dirty="0">
                <a:solidFill>
                  <a:srgbClr val="0E7C8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965960" y="2167128"/>
            <a:ext cx="3931920" cy="457200"/>
          </a:xfrm>
          <a:prstGeom prst="rect">
            <a:avLst/>
          </a:prstGeom>
          <a:noFill/>
          <a:ln/>
        </p:spPr>
        <p:txBody>
          <a:bodyPr wrap="square" lIns="0" tIns="0" rIns="0" bIns="0" rtlCol="0" anchor="ctr"/>
          <a:lstStyle/>
          <a:p>
            <a:pPr indent="0" marL="0">
              <a:buNone/>
            </a:pPr>
            <a:r>
              <a:rPr lang="en-US" sz="1800" b="1" dirty="0">
                <a:solidFill>
                  <a:srgbClr val="052A33"/>
                </a:solidFill>
                <a:latin typeface="Calibri" pitchFamily="34" charset="0"/>
                <a:ea typeface="Calibri" pitchFamily="34" charset="-122"/>
                <a:cs typeface="Calibri" pitchFamily="34" charset="-120"/>
              </a:rPr>
              <a:t>Proxy &amp; buddy punching</a:t>
            </a:r>
            <a:endParaRPr lang="en-US" sz="1800" dirty="0"/>
          </a:p>
        </p:txBody>
      </p:sp>
      <p:sp>
        <p:nvSpPr>
          <p:cNvPr id="8" name="Text 6"/>
          <p:cNvSpPr/>
          <p:nvPr/>
        </p:nvSpPr>
        <p:spPr>
          <a:xfrm>
            <a:off x="1965960" y="2651760"/>
            <a:ext cx="3977640" cy="9601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Someone clocks in for a colleague who isn't there — attendance you can't trust.</a:t>
            </a:r>
            <a:endParaRPr lang="en-US" sz="1350" dirty="0"/>
          </a:p>
        </p:txBody>
      </p:sp>
      <p:sp>
        <p:nvSpPr>
          <p:cNvPr id="9" name="Shape 7"/>
          <p:cNvSpPr/>
          <p:nvPr/>
        </p:nvSpPr>
        <p:spPr>
          <a:xfrm>
            <a:off x="6400800" y="1874520"/>
            <a:ext cx="5303520" cy="1920240"/>
          </a:xfrm>
          <a:prstGeom prst="roundRect">
            <a:avLst>
              <a:gd name="adj" fmla="val 5714"/>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0" name="Shape 8"/>
          <p:cNvSpPr/>
          <p:nvPr/>
        </p:nvSpPr>
        <p:spPr>
          <a:xfrm>
            <a:off x="6720840" y="2194560"/>
            <a:ext cx="640080" cy="640080"/>
          </a:xfrm>
          <a:prstGeom prst="ellipse">
            <a:avLst/>
          </a:prstGeom>
          <a:solidFill>
            <a:srgbClr val="E1F3F6"/>
          </a:solidFill>
          <a:ln/>
        </p:spPr>
      </p:sp>
      <p:sp>
        <p:nvSpPr>
          <p:cNvPr id="11" name="Text 9"/>
          <p:cNvSpPr/>
          <p:nvPr/>
        </p:nvSpPr>
        <p:spPr>
          <a:xfrm>
            <a:off x="6720840" y="2194560"/>
            <a:ext cx="640080" cy="640080"/>
          </a:xfrm>
          <a:prstGeom prst="rect">
            <a:avLst/>
          </a:prstGeom>
          <a:noFill/>
          <a:ln/>
        </p:spPr>
        <p:txBody>
          <a:bodyPr wrap="square" lIns="0" tIns="0" rIns="0" bIns="0" rtlCol="0" anchor="ctr"/>
          <a:lstStyle/>
          <a:p>
            <a:pPr algn="ctr" indent="0" marL="0">
              <a:buNone/>
            </a:pPr>
            <a:r>
              <a:rPr lang="en-US" sz="2000" b="1" dirty="0">
                <a:solidFill>
                  <a:srgbClr val="0E7C8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7543800" y="2167128"/>
            <a:ext cx="3931920" cy="457200"/>
          </a:xfrm>
          <a:prstGeom prst="rect">
            <a:avLst/>
          </a:prstGeom>
          <a:noFill/>
          <a:ln/>
        </p:spPr>
        <p:txBody>
          <a:bodyPr wrap="square" lIns="0" tIns="0" rIns="0" bIns="0" rtlCol="0" anchor="ctr"/>
          <a:lstStyle/>
          <a:p>
            <a:pPr indent="0" marL="0">
              <a:buNone/>
            </a:pPr>
            <a:r>
              <a:rPr lang="en-US" sz="1800" b="1" dirty="0">
                <a:solidFill>
                  <a:srgbClr val="052A33"/>
                </a:solidFill>
                <a:latin typeface="Calibri" pitchFamily="34" charset="0"/>
                <a:ea typeface="Calibri" pitchFamily="34" charset="-122"/>
                <a:cs typeface="Calibri" pitchFamily="34" charset="-120"/>
              </a:rPr>
              <a:t>Idle time is invisible</a:t>
            </a:r>
            <a:endParaRPr lang="en-US" sz="1800" dirty="0"/>
          </a:p>
        </p:txBody>
      </p:sp>
      <p:sp>
        <p:nvSpPr>
          <p:cNvPr id="13" name="Text 11"/>
          <p:cNvSpPr/>
          <p:nvPr/>
        </p:nvSpPr>
        <p:spPr>
          <a:xfrm>
            <a:off x="7543800" y="2651760"/>
            <a:ext cx="3977640" cy="9601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Hours look "present" but you can't see active vs idle, or where the time actually went.</a:t>
            </a:r>
            <a:endParaRPr lang="en-US" sz="1350" dirty="0"/>
          </a:p>
        </p:txBody>
      </p:sp>
      <p:sp>
        <p:nvSpPr>
          <p:cNvPr id="14" name="Shape 12"/>
          <p:cNvSpPr/>
          <p:nvPr/>
        </p:nvSpPr>
        <p:spPr>
          <a:xfrm>
            <a:off x="822960" y="4023360"/>
            <a:ext cx="5303520" cy="1920240"/>
          </a:xfrm>
          <a:prstGeom prst="roundRect">
            <a:avLst>
              <a:gd name="adj" fmla="val 5714"/>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5" name="Shape 13"/>
          <p:cNvSpPr/>
          <p:nvPr/>
        </p:nvSpPr>
        <p:spPr>
          <a:xfrm>
            <a:off x="1143000" y="4343400"/>
            <a:ext cx="640080" cy="640080"/>
          </a:xfrm>
          <a:prstGeom prst="ellipse">
            <a:avLst/>
          </a:prstGeom>
          <a:solidFill>
            <a:srgbClr val="E1F3F6"/>
          </a:solidFill>
          <a:ln/>
        </p:spPr>
      </p:sp>
      <p:sp>
        <p:nvSpPr>
          <p:cNvPr id="16" name="Text 14"/>
          <p:cNvSpPr/>
          <p:nvPr/>
        </p:nvSpPr>
        <p:spPr>
          <a:xfrm>
            <a:off x="1143000" y="4343400"/>
            <a:ext cx="640080" cy="640080"/>
          </a:xfrm>
          <a:prstGeom prst="rect">
            <a:avLst/>
          </a:prstGeom>
          <a:noFill/>
          <a:ln/>
        </p:spPr>
        <p:txBody>
          <a:bodyPr wrap="square" lIns="0" tIns="0" rIns="0" bIns="0" rtlCol="0" anchor="ctr"/>
          <a:lstStyle/>
          <a:p>
            <a:pPr algn="ctr" indent="0" marL="0">
              <a:buNone/>
            </a:pPr>
            <a:r>
              <a:rPr lang="en-US" sz="2000" b="1" dirty="0">
                <a:solidFill>
                  <a:srgbClr val="0E7C8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965960" y="4315968"/>
            <a:ext cx="3931920" cy="457200"/>
          </a:xfrm>
          <a:prstGeom prst="rect">
            <a:avLst/>
          </a:prstGeom>
          <a:noFill/>
          <a:ln/>
        </p:spPr>
        <p:txBody>
          <a:bodyPr wrap="square" lIns="0" tIns="0" rIns="0" bIns="0" rtlCol="0" anchor="ctr"/>
          <a:lstStyle/>
          <a:p>
            <a:pPr indent="0" marL="0">
              <a:buNone/>
            </a:pPr>
            <a:r>
              <a:rPr lang="en-US" sz="1800" b="1" dirty="0">
                <a:solidFill>
                  <a:srgbClr val="052A33"/>
                </a:solidFill>
                <a:latin typeface="Calibri" pitchFamily="34" charset="0"/>
                <a:ea typeface="Calibri" pitchFamily="34" charset="-122"/>
                <a:cs typeface="Calibri" pitchFamily="34" charset="-120"/>
              </a:rPr>
              <a:t>Your data leaves your walls</a:t>
            </a:r>
            <a:endParaRPr lang="en-US" sz="1800" dirty="0"/>
          </a:p>
        </p:txBody>
      </p:sp>
      <p:sp>
        <p:nvSpPr>
          <p:cNvPr id="18" name="Text 16"/>
          <p:cNvSpPr/>
          <p:nvPr/>
        </p:nvSpPr>
        <p:spPr>
          <a:xfrm>
            <a:off x="1965960" y="4800600"/>
            <a:ext cx="3977640" cy="9601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Most tools park screenshots and activity on someone else's cloud you don't control.</a:t>
            </a:r>
            <a:endParaRPr lang="en-US" sz="1350" dirty="0"/>
          </a:p>
        </p:txBody>
      </p:sp>
      <p:sp>
        <p:nvSpPr>
          <p:cNvPr id="19" name="Shape 17"/>
          <p:cNvSpPr/>
          <p:nvPr/>
        </p:nvSpPr>
        <p:spPr>
          <a:xfrm>
            <a:off x="6400800" y="4023360"/>
            <a:ext cx="5303520" cy="1920240"/>
          </a:xfrm>
          <a:prstGeom prst="roundRect">
            <a:avLst>
              <a:gd name="adj" fmla="val 5714"/>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20" name="Shape 18"/>
          <p:cNvSpPr/>
          <p:nvPr/>
        </p:nvSpPr>
        <p:spPr>
          <a:xfrm>
            <a:off x="6720840" y="4343400"/>
            <a:ext cx="640080" cy="640080"/>
          </a:xfrm>
          <a:prstGeom prst="ellipse">
            <a:avLst/>
          </a:prstGeom>
          <a:solidFill>
            <a:srgbClr val="E1F3F6"/>
          </a:solidFill>
          <a:ln/>
        </p:spPr>
      </p:sp>
      <p:sp>
        <p:nvSpPr>
          <p:cNvPr id="21" name="Text 19"/>
          <p:cNvSpPr/>
          <p:nvPr/>
        </p:nvSpPr>
        <p:spPr>
          <a:xfrm>
            <a:off x="6720840" y="4343400"/>
            <a:ext cx="640080" cy="640080"/>
          </a:xfrm>
          <a:prstGeom prst="rect">
            <a:avLst/>
          </a:prstGeom>
          <a:noFill/>
          <a:ln/>
        </p:spPr>
        <p:txBody>
          <a:bodyPr wrap="square" lIns="0" tIns="0" rIns="0" bIns="0" rtlCol="0" anchor="ctr"/>
          <a:lstStyle/>
          <a:p>
            <a:pPr algn="ctr" indent="0" marL="0">
              <a:buNone/>
            </a:pPr>
            <a:r>
              <a:rPr lang="en-US" sz="2000" b="1" dirty="0">
                <a:solidFill>
                  <a:srgbClr val="0E7C8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543800" y="4315968"/>
            <a:ext cx="3931920" cy="457200"/>
          </a:xfrm>
          <a:prstGeom prst="rect">
            <a:avLst/>
          </a:prstGeom>
          <a:noFill/>
          <a:ln/>
        </p:spPr>
        <p:txBody>
          <a:bodyPr wrap="square" lIns="0" tIns="0" rIns="0" bIns="0" rtlCol="0" anchor="ctr"/>
          <a:lstStyle/>
          <a:p>
            <a:pPr indent="0" marL="0">
              <a:buNone/>
            </a:pPr>
            <a:r>
              <a:rPr lang="en-US" sz="1800" b="1" dirty="0">
                <a:solidFill>
                  <a:srgbClr val="052A33"/>
                </a:solidFill>
                <a:latin typeface="Calibri" pitchFamily="34" charset="0"/>
                <a:ea typeface="Calibri" pitchFamily="34" charset="-122"/>
                <a:cs typeface="Calibri" pitchFamily="34" charset="-120"/>
              </a:rPr>
              <a:t>You rent software forever</a:t>
            </a:r>
            <a:endParaRPr lang="en-US" sz="1800" dirty="0"/>
          </a:p>
        </p:txBody>
      </p:sp>
      <p:sp>
        <p:nvSpPr>
          <p:cNvPr id="23" name="Text 21"/>
          <p:cNvSpPr/>
          <p:nvPr/>
        </p:nvSpPr>
        <p:spPr>
          <a:xfrm>
            <a:off x="7543800" y="4800600"/>
            <a:ext cx="3977640" cy="9601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Monthly fees that never stop — you pay and pay, and never own anything.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Meet SmartEPT — one system, three simple parts</a:t>
            </a:r>
            <a:endParaRPr lang="en-US" sz="3400" dirty="0"/>
          </a:p>
        </p:txBody>
      </p:sp>
      <p:sp>
        <p:nvSpPr>
          <p:cNvPr id="4" name="Shape 2"/>
          <p:cNvSpPr/>
          <p:nvPr/>
        </p:nvSpPr>
        <p:spPr>
          <a:xfrm>
            <a:off x="822960" y="1965960"/>
            <a:ext cx="3429000" cy="3200400"/>
          </a:xfrm>
          <a:prstGeom prst="roundRect">
            <a:avLst>
              <a:gd name="adj" fmla="val 3429"/>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Shape 3"/>
          <p:cNvSpPr/>
          <p:nvPr/>
        </p:nvSpPr>
        <p:spPr>
          <a:xfrm>
            <a:off x="1143000" y="2286000"/>
            <a:ext cx="960120" cy="960120"/>
          </a:xfrm>
          <a:prstGeom prst="roundRect">
            <a:avLst>
              <a:gd name="adj" fmla="val 47619"/>
            </a:avLst>
          </a:prstGeom>
          <a:solidFill>
            <a:srgbClr val="0E7C8F"/>
          </a:solidFill>
          <a:ln/>
        </p:spPr>
      </p:sp>
      <p:sp>
        <p:nvSpPr>
          <p:cNvPr id="6" name="Text 4"/>
          <p:cNvSpPr/>
          <p:nvPr/>
        </p:nvSpPr>
        <p:spPr>
          <a:xfrm>
            <a:off x="1143000" y="2286000"/>
            <a:ext cx="96012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7" name="Text 5"/>
          <p:cNvSpPr/>
          <p:nvPr/>
        </p:nvSpPr>
        <p:spPr>
          <a:xfrm>
            <a:off x="1143000" y="3429000"/>
            <a:ext cx="2834640" cy="457200"/>
          </a:xfrm>
          <a:prstGeom prst="rect">
            <a:avLst/>
          </a:prstGeom>
          <a:noFill/>
          <a:ln/>
        </p:spPr>
        <p:txBody>
          <a:bodyPr wrap="square" lIns="0" tIns="0" rIns="0" bIns="0" rtlCol="0" anchor="ctr"/>
          <a:lstStyle/>
          <a:p>
            <a:pPr indent="0" marL="0">
              <a:buNone/>
            </a:pPr>
            <a:r>
              <a:rPr lang="en-US" sz="1900" b="1" dirty="0">
                <a:solidFill>
                  <a:srgbClr val="052A33"/>
                </a:solidFill>
                <a:latin typeface="Calibri" pitchFamily="34" charset="0"/>
                <a:ea typeface="Calibri" pitchFamily="34" charset="-122"/>
                <a:cs typeface="Calibri" pitchFamily="34" charset="-120"/>
              </a:rPr>
              <a:t>Web Console</a:t>
            </a:r>
            <a:endParaRPr lang="en-US" sz="1900" dirty="0"/>
          </a:p>
        </p:txBody>
      </p:sp>
      <p:sp>
        <p:nvSpPr>
          <p:cNvPr id="8" name="Text 6"/>
          <p:cNvSpPr/>
          <p:nvPr/>
        </p:nvSpPr>
        <p:spPr>
          <a:xfrm>
            <a:off x="1143000" y="3931920"/>
            <a:ext cx="2880360" cy="11887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Where owners &amp; managers work — live dashboard, attendance, reports, policies. Opens in a browser.</a:t>
            </a:r>
            <a:endParaRPr lang="en-US" sz="1350" dirty="0"/>
          </a:p>
        </p:txBody>
      </p:sp>
      <p:sp>
        <p:nvSpPr>
          <p:cNvPr id="9" name="Shape 7"/>
          <p:cNvSpPr/>
          <p:nvPr/>
        </p:nvSpPr>
        <p:spPr>
          <a:xfrm>
            <a:off x="4526280" y="1965960"/>
            <a:ext cx="3429000" cy="3200400"/>
          </a:xfrm>
          <a:prstGeom prst="roundRect">
            <a:avLst>
              <a:gd name="adj" fmla="val 3429"/>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0" name="Shape 8"/>
          <p:cNvSpPr/>
          <p:nvPr/>
        </p:nvSpPr>
        <p:spPr>
          <a:xfrm>
            <a:off x="4846320" y="2286000"/>
            <a:ext cx="960120" cy="960120"/>
          </a:xfrm>
          <a:prstGeom prst="roundRect">
            <a:avLst>
              <a:gd name="adj" fmla="val 47619"/>
            </a:avLst>
          </a:prstGeom>
          <a:solidFill>
            <a:srgbClr val="22B8CF"/>
          </a:solidFill>
          <a:ln/>
        </p:spPr>
      </p:sp>
      <p:sp>
        <p:nvSpPr>
          <p:cNvPr id="11" name="Text 9"/>
          <p:cNvSpPr/>
          <p:nvPr/>
        </p:nvSpPr>
        <p:spPr>
          <a:xfrm>
            <a:off x="4846320" y="2286000"/>
            <a:ext cx="96012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2" name="Text 10"/>
          <p:cNvSpPr/>
          <p:nvPr/>
        </p:nvSpPr>
        <p:spPr>
          <a:xfrm>
            <a:off x="4846320" y="3429000"/>
            <a:ext cx="2834640" cy="457200"/>
          </a:xfrm>
          <a:prstGeom prst="rect">
            <a:avLst/>
          </a:prstGeom>
          <a:noFill/>
          <a:ln/>
        </p:spPr>
        <p:txBody>
          <a:bodyPr wrap="square" lIns="0" tIns="0" rIns="0" bIns="0" rtlCol="0" anchor="ctr"/>
          <a:lstStyle/>
          <a:p>
            <a:pPr indent="0" marL="0">
              <a:buNone/>
            </a:pPr>
            <a:r>
              <a:rPr lang="en-US" sz="1900" b="1" dirty="0">
                <a:solidFill>
                  <a:srgbClr val="052A33"/>
                </a:solidFill>
                <a:latin typeface="Calibri" pitchFamily="34" charset="0"/>
                <a:ea typeface="Calibri" pitchFamily="34" charset="-122"/>
                <a:cs typeface="Calibri" pitchFamily="34" charset="-120"/>
              </a:rPr>
              <a:t>Desktop Agent</a:t>
            </a:r>
            <a:endParaRPr lang="en-US" sz="1900" dirty="0"/>
          </a:p>
        </p:txBody>
      </p:sp>
      <p:sp>
        <p:nvSpPr>
          <p:cNvPr id="13" name="Text 11"/>
          <p:cNvSpPr/>
          <p:nvPr/>
        </p:nvSpPr>
        <p:spPr>
          <a:xfrm>
            <a:off x="4846320" y="3931920"/>
            <a:ext cx="2880360" cy="11887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A small, visible app on each employee PC. Records only what your policy allows — after they consent.</a:t>
            </a:r>
            <a:endParaRPr lang="en-US" sz="1350" dirty="0"/>
          </a:p>
        </p:txBody>
      </p:sp>
      <p:sp>
        <p:nvSpPr>
          <p:cNvPr id="14" name="Shape 12"/>
          <p:cNvSpPr/>
          <p:nvPr/>
        </p:nvSpPr>
        <p:spPr>
          <a:xfrm>
            <a:off x="8229600" y="1965960"/>
            <a:ext cx="3429000" cy="3200400"/>
          </a:xfrm>
          <a:prstGeom prst="roundRect">
            <a:avLst>
              <a:gd name="adj" fmla="val 3429"/>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5" name="Shape 13"/>
          <p:cNvSpPr/>
          <p:nvPr/>
        </p:nvSpPr>
        <p:spPr>
          <a:xfrm>
            <a:off x="8549640" y="2286000"/>
            <a:ext cx="960120" cy="960120"/>
          </a:xfrm>
          <a:prstGeom prst="roundRect">
            <a:avLst>
              <a:gd name="adj" fmla="val 47619"/>
            </a:avLst>
          </a:prstGeom>
          <a:solidFill>
            <a:srgbClr val="052A33"/>
          </a:solidFill>
          <a:ln/>
        </p:spPr>
      </p:sp>
      <p:sp>
        <p:nvSpPr>
          <p:cNvPr id="16" name="Text 14"/>
          <p:cNvSpPr/>
          <p:nvPr/>
        </p:nvSpPr>
        <p:spPr>
          <a:xfrm>
            <a:off x="8549640" y="2286000"/>
            <a:ext cx="96012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7" name="Text 15"/>
          <p:cNvSpPr/>
          <p:nvPr/>
        </p:nvSpPr>
        <p:spPr>
          <a:xfrm>
            <a:off x="8549640" y="3429000"/>
            <a:ext cx="2834640" cy="457200"/>
          </a:xfrm>
          <a:prstGeom prst="rect">
            <a:avLst/>
          </a:prstGeom>
          <a:noFill/>
          <a:ln/>
        </p:spPr>
        <p:txBody>
          <a:bodyPr wrap="square" lIns="0" tIns="0" rIns="0" bIns="0" rtlCol="0" anchor="ctr"/>
          <a:lstStyle/>
          <a:p>
            <a:pPr indent="0" marL="0">
              <a:buNone/>
            </a:pPr>
            <a:r>
              <a:rPr lang="en-US" sz="1900" b="1" dirty="0">
                <a:solidFill>
                  <a:srgbClr val="052A33"/>
                </a:solidFill>
                <a:latin typeface="Calibri" pitchFamily="34" charset="0"/>
                <a:ea typeface="Calibri" pitchFamily="34" charset="-122"/>
                <a:cs typeface="Calibri" pitchFamily="34" charset="-120"/>
              </a:rPr>
              <a:t>Central (Ametecs)</a:t>
            </a:r>
            <a:endParaRPr lang="en-US" sz="1900" dirty="0"/>
          </a:p>
        </p:txBody>
      </p:sp>
      <p:sp>
        <p:nvSpPr>
          <p:cNvPr id="18" name="Text 16"/>
          <p:cNvSpPr/>
          <p:nvPr/>
        </p:nvSpPr>
        <p:spPr>
          <a:xfrm>
            <a:off x="8549640" y="3931920"/>
            <a:ext cx="2880360" cy="1188720"/>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Handles your licence &amp; billing. It never sees your employee data — only what's needed to activate.</a:t>
            </a:r>
            <a:endParaRPr lang="en-US" sz="1350" dirty="0"/>
          </a:p>
        </p:txBody>
      </p:sp>
      <p:sp>
        <p:nvSpPr>
          <p:cNvPr id="19" name="Text 17"/>
          <p:cNvSpPr/>
          <p:nvPr/>
        </p:nvSpPr>
        <p:spPr>
          <a:xfrm>
            <a:off x="822960" y="5623560"/>
            <a:ext cx="10515600" cy="365760"/>
          </a:xfrm>
          <a:prstGeom prst="rect">
            <a:avLst/>
          </a:prstGeom>
          <a:noFill/>
          <a:ln/>
        </p:spPr>
        <p:txBody>
          <a:bodyPr wrap="square" lIns="0" tIns="0" rIns="0" bIns="0" rtlCol="0" anchor="ctr"/>
          <a:lstStyle/>
          <a:p>
            <a:pPr algn="ctr" indent="0" marL="0">
              <a:buNone/>
            </a:pPr>
            <a:r>
              <a:rPr lang="en-US" sz="1500" b="1" i="1" dirty="0">
                <a:solidFill>
                  <a:srgbClr val="0E7C8F"/>
                </a:solidFill>
                <a:latin typeface="Calibri" pitchFamily="34" charset="0"/>
                <a:ea typeface="Calibri" pitchFamily="34" charset="-122"/>
                <a:cs typeface="Calibri" pitchFamily="34" charset="-120"/>
              </a:rPr>
              <a:t>Always visible. Always consent-based. No hidden mode, ever.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2A33"/>
        </a:solidFill>
      </p:bgPr>
    </p:bg>
    <p:spTree>
      <p:nvGrpSpPr>
        <p:cNvPr id="1" name=""/>
        <p:cNvGrpSpPr/>
        <p:nvPr/>
      </p:nvGrpSpPr>
      <p:grpSpPr>
        <a:xfrm>
          <a:off x="0" y="0"/>
          <a:ext cx="0" cy="0"/>
          <a:chOff x="0" y="0"/>
          <a:chExt cx="0" cy="0"/>
        </a:xfrm>
      </p:grpSpPr>
      <p:sp>
        <p:nvSpPr>
          <p:cNvPr id="2" name="Text 0"/>
          <p:cNvSpPr/>
          <p:nvPr/>
        </p:nvSpPr>
        <p:spPr>
          <a:xfrm>
            <a:off x="822960" y="640080"/>
            <a:ext cx="8229600" cy="274320"/>
          </a:xfrm>
          <a:prstGeom prst="rect">
            <a:avLst/>
          </a:prstGeom>
          <a:noFill/>
          <a:ln/>
        </p:spPr>
        <p:txBody>
          <a:bodyPr wrap="square" lIns="0" tIns="0" rIns="0" bIns="0" rtlCol="0" anchor="ctr"/>
          <a:lstStyle/>
          <a:p>
            <a:pPr indent="0" marL="0">
              <a:buNone/>
            </a:pPr>
            <a:r>
              <a:rPr lang="en-US" sz="1200" b="1" spc="200" kern="0" dirty="0">
                <a:solidFill>
                  <a:srgbClr val="31D2E8"/>
                </a:solidFill>
                <a:latin typeface="Calibri" pitchFamily="34" charset="0"/>
                <a:ea typeface="Calibri" pitchFamily="34" charset="-122"/>
                <a:cs typeface="Calibri" pitchFamily="34" charset="-120"/>
              </a:rPr>
              <a:t>WHY BUSINESSES SWITCH</a:t>
            </a:r>
            <a:endParaRPr lang="en-US" sz="1200" dirty="0"/>
          </a:p>
        </p:txBody>
      </p:sp>
      <p:sp>
        <p:nvSpPr>
          <p:cNvPr id="3" name="Text 1"/>
          <p:cNvSpPr/>
          <p:nvPr/>
        </p:nvSpPr>
        <p:spPr>
          <a:xfrm>
            <a:off x="822960" y="105156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reasons clients fall in love</a:t>
            </a:r>
            <a:endParaRPr lang="en-US" sz="3400" dirty="0"/>
          </a:p>
        </p:txBody>
      </p:sp>
      <p:sp>
        <p:nvSpPr>
          <p:cNvPr id="4" name="Shape 2"/>
          <p:cNvSpPr/>
          <p:nvPr/>
        </p:nvSpPr>
        <p:spPr>
          <a:xfrm>
            <a:off x="822960" y="2194560"/>
            <a:ext cx="3429000" cy="3291840"/>
          </a:xfrm>
          <a:prstGeom prst="roundRect">
            <a:avLst>
              <a:gd name="adj" fmla="val 3333"/>
            </a:avLst>
          </a:prstGeom>
          <a:solidFill>
            <a:srgbClr val="0B3A44"/>
          </a:solidFill>
          <a:ln w="12700">
            <a:solidFill>
              <a:srgbClr val="145865"/>
            </a:solidFill>
            <a:prstDash val="solid"/>
          </a:ln>
        </p:spPr>
      </p:sp>
      <p:sp>
        <p:nvSpPr>
          <p:cNvPr id="5" name="Text 3"/>
          <p:cNvSpPr/>
          <p:nvPr/>
        </p:nvSpPr>
        <p:spPr>
          <a:xfrm>
            <a:off x="1097280" y="2423160"/>
            <a:ext cx="2743200" cy="822960"/>
          </a:xfrm>
          <a:prstGeom prst="rect">
            <a:avLst/>
          </a:prstGeom>
          <a:noFill/>
          <a:ln/>
        </p:spPr>
        <p:txBody>
          <a:bodyPr wrap="square" lIns="0" tIns="0" rIns="0" bIns="0" rtlCol="0" anchor="ctr"/>
          <a:lstStyle/>
          <a:p>
            <a:pPr indent="0" marL="0">
              <a:buNone/>
            </a:pPr>
            <a:r>
              <a:rPr lang="en-US" sz="4400" b="1" dirty="0">
                <a:solidFill>
                  <a:srgbClr val="31D2E8"/>
                </a:solidFill>
                <a:latin typeface="Calibri" pitchFamily="34" charset="0"/>
                <a:ea typeface="Calibri" pitchFamily="34" charset="-122"/>
                <a:cs typeface="Calibri" pitchFamily="34" charset="-120"/>
              </a:rPr>
              <a:t>01</a:t>
            </a:r>
            <a:endParaRPr lang="en-US" sz="4400" dirty="0"/>
          </a:p>
        </p:txBody>
      </p:sp>
      <p:sp>
        <p:nvSpPr>
          <p:cNvPr id="6" name="Text 4"/>
          <p:cNvSpPr/>
          <p:nvPr/>
        </p:nvSpPr>
        <p:spPr>
          <a:xfrm>
            <a:off x="1115568" y="3383280"/>
            <a:ext cx="2880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Gate-to-PC</a:t>
            </a:r>
            <a:endParaRPr lang="en-US" sz="2000" dirty="0"/>
          </a:p>
        </p:txBody>
      </p:sp>
      <p:sp>
        <p:nvSpPr>
          <p:cNvPr id="7" name="Text 5"/>
          <p:cNvSpPr/>
          <p:nvPr/>
        </p:nvSpPr>
        <p:spPr>
          <a:xfrm>
            <a:off x="1115568" y="3977640"/>
            <a:ext cx="2880360" cy="1280160"/>
          </a:xfrm>
          <a:prstGeom prst="rect">
            <a:avLst/>
          </a:prstGeom>
          <a:noFill/>
          <a:ln/>
        </p:spPr>
        <p:txBody>
          <a:bodyPr wrap="square" lIns="0" tIns="0" rIns="0" bIns="0" rtlCol="0" anchor="ctr"/>
          <a:lstStyle/>
          <a:p>
            <a:pPr indent="0" marL="0">
              <a:buNone/>
            </a:pPr>
            <a:r>
              <a:rPr lang="en-US" sz="1400" dirty="0">
                <a:solidFill>
                  <a:srgbClr val="CFE3E7"/>
                </a:solidFill>
                <a:latin typeface="Calibri" pitchFamily="34" charset="0"/>
                <a:ea typeface="Calibri" pitchFamily="34" charset="-122"/>
                <a:cs typeface="Calibri" pitchFamily="34" charset="-120"/>
              </a:rPr>
              <a:t>The PC only works after a door punch. Buddy punching stops on day one.</a:t>
            </a:r>
            <a:endParaRPr lang="en-US" sz="1400" dirty="0"/>
          </a:p>
        </p:txBody>
      </p:sp>
      <p:sp>
        <p:nvSpPr>
          <p:cNvPr id="8" name="Shape 6"/>
          <p:cNvSpPr/>
          <p:nvPr/>
        </p:nvSpPr>
        <p:spPr>
          <a:xfrm>
            <a:off x="4526280" y="2194560"/>
            <a:ext cx="3429000" cy="3291840"/>
          </a:xfrm>
          <a:prstGeom prst="roundRect">
            <a:avLst>
              <a:gd name="adj" fmla="val 3333"/>
            </a:avLst>
          </a:prstGeom>
          <a:solidFill>
            <a:srgbClr val="0B3A44"/>
          </a:solidFill>
          <a:ln w="12700">
            <a:solidFill>
              <a:srgbClr val="145865"/>
            </a:solidFill>
            <a:prstDash val="solid"/>
          </a:ln>
        </p:spPr>
      </p:sp>
      <p:sp>
        <p:nvSpPr>
          <p:cNvPr id="9" name="Text 7"/>
          <p:cNvSpPr/>
          <p:nvPr/>
        </p:nvSpPr>
        <p:spPr>
          <a:xfrm>
            <a:off x="4800600" y="2423160"/>
            <a:ext cx="2743200" cy="822960"/>
          </a:xfrm>
          <a:prstGeom prst="rect">
            <a:avLst/>
          </a:prstGeom>
          <a:noFill/>
          <a:ln/>
        </p:spPr>
        <p:txBody>
          <a:bodyPr wrap="square" lIns="0" tIns="0" rIns="0" bIns="0" rtlCol="0" anchor="ctr"/>
          <a:lstStyle/>
          <a:p>
            <a:pPr indent="0" marL="0">
              <a:buNone/>
            </a:pPr>
            <a:r>
              <a:rPr lang="en-US" sz="4400" b="1" dirty="0">
                <a:solidFill>
                  <a:srgbClr val="31D2E8"/>
                </a:solidFill>
                <a:latin typeface="Calibri" pitchFamily="34" charset="0"/>
                <a:ea typeface="Calibri" pitchFamily="34" charset="-122"/>
                <a:cs typeface="Calibri" pitchFamily="34" charset="-120"/>
              </a:rPr>
              <a:t>02</a:t>
            </a:r>
            <a:endParaRPr lang="en-US" sz="4400" dirty="0"/>
          </a:p>
        </p:txBody>
      </p:sp>
      <p:sp>
        <p:nvSpPr>
          <p:cNvPr id="10" name="Text 8"/>
          <p:cNvSpPr/>
          <p:nvPr/>
        </p:nvSpPr>
        <p:spPr>
          <a:xfrm>
            <a:off x="4818888" y="3383280"/>
            <a:ext cx="2880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Your data, your walls</a:t>
            </a:r>
            <a:endParaRPr lang="en-US" sz="2000" dirty="0"/>
          </a:p>
        </p:txBody>
      </p:sp>
      <p:sp>
        <p:nvSpPr>
          <p:cNvPr id="11" name="Text 9"/>
          <p:cNvSpPr/>
          <p:nvPr/>
        </p:nvSpPr>
        <p:spPr>
          <a:xfrm>
            <a:off x="4818888" y="3977640"/>
            <a:ext cx="2880360" cy="1280160"/>
          </a:xfrm>
          <a:prstGeom prst="rect">
            <a:avLst/>
          </a:prstGeom>
          <a:noFill/>
          <a:ln/>
        </p:spPr>
        <p:txBody>
          <a:bodyPr wrap="square" lIns="0" tIns="0" rIns="0" bIns="0" rtlCol="0" anchor="ctr"/>
          <a:lstStyle/>
          <a:p>
            <a:pPr indent="0" marL="0">
              <a:buNone/>
            </a:pPr>
            <a:r>
              <a:rPr lang="en-US" sz="1400" dirty="0">
                <a:solidFill>
                  <a:srgbClr val="CFE3E7"/>
                </a:solidFill>
                <a:latin typeface="Calibri" pitchFamily="34" charset="0"/>
                <a:ea typeface="Calibri" pitchFamily="34" charset="-122"/>
                <a:cs typeface="Calibri" pitchFamily="34" charset="-120"/>
              </a:rPr>
              <a:t>Keep every screenshot &amp; record on your own server. We never see it.</a:t>
            </a:r>
            <a:endParaRPr lang="en-US" sz="1400" dirty="0"/>
          </a:p>
        </p:txBody>
      </p:sp>
      <p:sp>
        <p:nvSpPr>
          <p:cNvPr id="12" name="Shape 10"/>
          <p:cNvSpPr/>
          <p:nvPr/>
        </p:nvSpPr>
        <p:spPr>
          <a:xfrm>
            <a:off x="8229600" y="2194560"/>
            <a:ext cx="3429000" cy="3291840"/>
          </a:xfrm>
          <a:prstGeom prst="roundRect">
            <a:avLst>
              <a:gd name="adj" fmla="val 3333"/>
            </a:avLst>
          </a:prstGeom>
          <a:solidFill>
            <a:srgbClr val="0B3A44"/>
          </a:solidFill>
          <a:ln w="12700">
            <a:solidFill>
              <a:srgbClr val="145865"/>
            </a:solidFill>
            <a:prstDash val="solid"/>
          </a:ln>
        </p:spPr>
      </p:sp>
      <p:sp>
        <p:nvSpPr>
          <p:cNvPr id="13" name="Text 11"/>
          <p:cNvSpPr/>
          <p:nvPr/>
        </p:nvSpPr>
        <p:spPr>
          <a:xfrm>
            <a:off x="8503920" y="2423160"/>
            <a:ext cx="2743200" cy="822960"/>
          </a:xfrm>
          <a:prstGeom prst="rect">
            <a:avLst/>
          </a:prstGeom>
          <a:noFill/>
          <a:ln/>
        </p:spPr>
        <p:txBody>
          <a:bodyPr wrap="square" lIns="0" tIns="0" rIns="0" bIns="0" rtlCol="0" anchor="ctr"/>
          <a:lstStyle/>
          <a:p>
            <a:pPr indent="0" marL="0">
              <a:buNone/>
            </a:pPr>
            <a:r>
              <a:rPr lang="en-US" sz="4400" b="1" dirty="0">
                <a:solidFill>
                  <a:srgbClr val="31D2E8"/>
                </a:solidFill>
                <a:latin typeface="Calibri" pitchFamily="34" charset="0"/>
                <a:ea typeface="Calibri" pitchFamily="34" charset="-122"/>
                <a:cs typeface="Calibri" pitchFamily="34" charset="-120"/>
              </a:rPr>
              <a:t>03</a:t>
            </a:r>
            <a:endParaRPr lang="en-US" sz="4400" dirty="0"/>
          </a:p>
        </p:txBody>
      </p:sp>
      <p:sp>
        <p:nvSpPr>
          <p:cNvPr id="14" name="Text 12"/>
          <p:cNvSpPr/>
          <p:nvPr/>
        </p:nvSpPr>
        <p:spPr>
          <a:xfrm>
            <a:off x="8522208" y="3383280"/>
            <a:ext cx="2880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Own it forever</a:t>
            </a:r>
            <a:endParaRPr lang="en-US" sz="2000" dirty="0"/>
          </a:p>
        </p:txBody>
      </p:sp>
      <p:sp>
        <p:nvSpPr>
          <p:cNvPr id="15" name="Text 13"/>
          <p:cNvSpPr/>
          <p:nvPr/>
        </p:nvSpPr>
        <p:spPr>
          <a:xfrm>
            <a:off x="8522208" y="3977640"/>
            <a:ext cx="2880360" cy="1280160"/>
          </a:xfrm>
          <a:prstGeom prst="rect">
            <a:avLst/>
          </a:prstGeom>
          <a:noFill/>
          <a:ln/>
        </p:spPr>
        <p:txBody>
          <a:bodyPr wrap="square" lIns="0" tIns="0" rIns="0" bIns="0" rtlCol="0" anchor="ctr"/>
          <a:lstStyle/>
          <a:p>
            <a:pPr indent="0" marL="0">
              <a:buNone/>
            </a:pPr>
            <a:r>
              <a:rPr lang="en-US" sz="1400" dirty="0">
                <a:solidFill>
                  <a:srgbClr val="CFE3E7"/>
                </a:solidFill>
                <a:latin typeface="Calibri" pitchFamily="34" charset="0"/>
                <a:ea typeface="Calibri" pitchFamily="34" charset="-122"/>
                <a:cs typeface="Calibri" pitchFamily="34" charset="-120"/>
              </a:rPr>
              <a:t>Buy once at an honest price. No endless rent — the software is yours.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USP 1 · INDUSTRY FIRST</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Gate-to-PC — punch in, then the PC works</a:t>
            </a:r>
            <a:endParaRPr lang="en-US" sz="3400" dirty="0"/>
          </a:p>
        </p:txBody>
      </p:sp>
      <p:sp>
        <p:nvSpPr>
          <p:cNvPr id="4" name="Shape 2"/>
          <p:cNvSpPr/>
          <p:nvPr/>
        </p:nvSpPr>
        <p:spPr>
          <a:xfrm>
            <a:off x="868680" y="1965960"/>
            <a:ext cx="658368" cy="658368"/>
          </a:xfrm>
          <a:prstGeom prst="ellipse">
            <a:avLst/>
          </a:prstGeom>
          <a:solidFill>
            <a:srgbClr val="0E7C8F"/>
          </a:solidFill>
          <a:ln/>
        </p:spPr>
      </p:sp>
      <p:sp>
        <p:nvSpPr>
          <p:cNvPr id="5" name="Text 3"/>
          <p:cNvSpPr/>
          <p:nvPr/>
        </p:nvSpPr>
        <p:spPr>
          <a:xfrm>
            <a:off x="868680" y="196596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737360" y="1984248"/>
            <a:ext cx="4206240" cy="365760"/>
          </a:xfrm>
          <a:prstGeom prst="rect">
            <a:avLst/>
          </a:prstGeom>
          <a:noFill/>
          <a:ln/>
        </p:spPr>
        <p:txBody>
          <a:bodyPr wrap="square" lIns="0" tIns="0" rIns="0" bIns="0" rtlCol="0" anchor="ctr"/>
          <a:lstStyle/>
          <a:p>
            <a:pPr indent="0" marL="0">
              <a:buNone/>
            </a:pPr>
            <a:r>
              <a:rPr lang="en-US" sz="1650" b="1" dirty="0">
                <a:solidFill>
                  <a:srgbClr val="052A33"/>
                </a:solidFill>
                <a:latin typeface="Calibri" pitchFamily="34" charset="0"/>
                <a:ea typeface="Calibri" pitchFamily="34" charset="-122"/>
                <a:cs typeface="Calibri" pitchFamily="34" charset="-120"/>
              </a:rPr>
              <a:t>Punch at the door</a:t>
            </a:r>
            <a:endParaRPr lang="en-US" sz="1650" dirty="0"/>
          </a:p>
        </p:txBody>
      </p:sp>
      <p:sp>
        <p:nvSpPr>
          <p:cNvPr id="7" name="Text 5"/>
          <p:cNvSpPr/>
          <p:nvPr/>
        </p:nvSpPr>
        <p:spPr>
          <a:xfrm>
            <a:off x="1737360" y="2350008"/>
            <a:ext cx="4572000" cy="45720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The biometric punch reaches SmartEPT in real time.</a:t>
            </a:r>
            <a:endParaRPr lang="en-US" sz="1300" dirty="0"/>
          </a:p>
        </p:txBody>
      </p:sp>
      <p:sp>
        <p:nvSpPr>
          <p:cNvPr id="8" name="Shape 6"/>
          <p:cNvSpPr/>
          <p:nvPr/>
        </p:nvSpPr>
        <p:spPr>
          <a:xfrm>
            <a:off x="868680" y="2990088"/>
            <a:ext cx="658368" cy="658368"/>
          </a:xfrm>
          <a:prstGeom prst="ellipse">
            <a:avLst/>
          </a:prstGeom>
          <a:solidFill>
            <a:srgbClr val="0E7C8F"/>
          </a:solidFill>
          <a:ln/>
        </p:spPr>
      </p:sp>
      <p:sp>
        <p:nvSpPr>
          <p:cNvPr id="9" name="Text 7"/>
          <p:cNvSpPr/>
          <p:nvPr/>
        </p:nvSpPr>
        <p:spPr>
          <a:xfrm>
            <a:off x="868680" y="299008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737360" y="3008376"/>
            <a:ext cx="4206240" cy="365760"/>
          </a:xfrm>
          <a:prstGeom prst="rect">
            <a:avLst/>
          </a:prstGeom>
          <a:noFill/>
          <a:ln/>
        </p:spPr>
        <p:txBody>
          <a:bodyPr wrap="square" lIns="0" tIns="0" rIns="0" bIns="0" rtlCol="0" anchor="ctr"/>
          <a:lstStyle/>
          <a:p>
            <a:pPr indent="0" marL="0">
              <a:buNone/>
            </a:pPr>
            <a:r>
              <a:rPr lang="en-US" sz="1650" b="1" dirty="0">
                <a:solidFill>
                  <a:srgbClr val="052A33"/>
                </a:solidFill>
                <a:latin typeface="Calibri" pitchFamily="34" charset="0"/>
                <a:ea typeface="Calibri" pitchFamily="34" charset="-122"/>
                <a:cs typeface="Calibri" pitchFamily="34" charset="-120"/>
              </a:rPr>
              <a:t>PC unlocks for work</a:t>
            </a:r>
            <a:endParaRPr lang="en-US" sz="1650" dirty="0"/>
          </a:p>
        </p:txBody>
      </p:sp>
      <p:sp>
        <p:nvSpPr>
          <p:cNvPr id="11" name="Text 9"/>
          <p:cNvSpPr/>
          <p:nvPr/>
        </p:nvSpPr>
        <p:spPr>
          <a:xfrm>
            <a:off x="1737360" y="3374136"/>
            <a:ext cx="4572000" cy="45720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The agent verifies the punch and allows the session.</a:t>
            </a:r>
            <a:endParaRPr lang="en-US" sz="1300" dirty="0"/>
          </a:p>
        </p:txBody>
      </p:sp>
      <p:sp>
        <p:nvSpPr>
          <p:cNvPr id="12" name="Shape 10"/>
          <p:cNvSpPr/>
          <p:nvPr/>
        </p:nvSpPr>
        <p:spPr>
          <a:xfrm>
            <a:off x="868680" y="4014216"/>
            <a:ext cx="658368" cy="658368"/>
          </a:xfrm>
          <a:prstGeom prst="ellipse">
            <a:avLst/>
          </a:prstGeom>
          <a:solidFill>
            <a:srgbClr val="0E7C8F"/>
          </a:solidFill>
          <a:ln/>
        </p:spPr>
      </p:sp>
      <p:sp>
        <p:nvSpPr>
          <p:cNvPr id="13" name="Text 11"/>
          <p:cNvSpPr/>
          <p:nvPr/>
        </p:nvSpPr>
        <p:spPr>
          <a:xfrm>
            <a:off x="868680" y="4014216"/>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737360" y="4032504"/>
            <a:ext cx="4206240" cy="365760"/>
          </a:xfrm>
          <a:prstGeom prst="rect">
            <a:avLst/>
          </a:prstGeom>
          <a:noFill/>
          <a:ln/>
        </p:spPr>
        <p:txBody>
          <a:bodyPr wrap="square" lIns="0" tIns="0" rIns="0" bIns="0" rtlCol="0" anchor="ctr"/>
          <a:lstStyle/>
          <a:p>
            <a:pPr indent="0" marL="0">
              <a:buNone/>
            </a:pPr>
            <a:r>
              <a:rPr lang="en-US" sz="1650" b="1" dirty="0">
                <a:solidFill>
                  <a:srgbClr val="052A33"/>
                </a:solidFill>
                <a:latin typeface="Calibri" pitchFamily="34" charset="0"/>
                <a:ea typeface="Calibri" pitchFamily="34" charset="-122"/>
                <a:cs typeface="Calibri" pitchFamily="34" charset="-120"/>
              </a:rPr>
              <a:t>Step out? Auto-break</a:t>
            </a:r>
            <a:endParaRPr lang="en-US" sz="1650" dirty="0"/>
          </a:p>
        </p:txBody>
      </p:sp>
      <p:sp>
        <p:nvSpPr>
          <p:cNvPr id="15" name="Text 13"/>
          <p:cNvSpPr/>
          <p:nvPr/>
        </p:nvSpPr>
        <p:spPr>
          <a:xfrm>
            <a:off x="1737360" y="4398264"/>
            <a:ext cx="4572000" cy="45720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Punch out mid-day → PC locks, break timer starts.</a:t>
            </a:r>
            <a:endParaRPr lang="en-US" sz="1300" dirty="0"/>
          </a:p>
        </p:txBody>
      </p:sp>
      <p:sp>
        <p:nvSpPr>
          <p:cNvPr id="16" name="Shape 14"/>
          <p:cNvSpPr/>
          <p:nvPr/>
        </p:nvSpPr>
        <p:spPr>
          <a:xfrm>
            <a:off x="868680" y="5038344"/>
            <a:ext cx="658368" cy="658368"/>
          </a:xfrm>
          <a:prstGeom prst="ellipse">
            <a:avLst/>
          </a:prstGeom>
          <a:solidFill>
            <a:srgbClr val="0E7C8F"/>
          </a:solidFill>
          <a:ln/>
        </p:spPr>
      </p:sp>
      <p:sp>
        <p:nvSpPr>
          <p:cNvPr id="17" name="Text 15"/>
          <p:cNvSpPr/>
          <p:nvPr/>
        </p:nvSpPr>
        <p:spPr>
          <a:xfrm>
            <a:off x="868680" y="5038344"/>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737360" y="5056632"/>
            <a:ext cx="4206240" cy="365760"/>
          </a:xfrm>
          <a:prstGeom prst="rect">
            <a:avLst/>
          </a:prstGeom>
          <a:noFill/>
          <a:ln/>
        </p:spPr>
        <p:txBody>
          <a:bodyPr wrap="square" lIns="0" tIns="0" rIns="0" bIns="0" rtlCol="0" anchor="ctr"/>
          <a:lstStyle/>
          <a:p>
            <a:pPr indent="0" marL="0">
              <a:buNone/>
            </a:pPr>
            <a:r>
              <a:rPr lang="en-US" sz="1650" b="1" dirty="0">
                <a:solidFill>
                  <a:srgbClr val="052A33"/>
                </a:solidFill>
                <a:latin typeface="Calibri" pitchFamily="34" charset="0"/>
                <a:ea typeface="Calibri" pitchFamily="34" charset="-122"/>
                <a:cs typeface="Calibri" pitchFamily="34" charset="-120"/>
              </a:rPr>
              <a:t>Office-time vs desk-time</a:t>
            </a:r>
            <a:endParaRPr lang="en-US" sz="1650" dirty="0"/>
          </a:p>
        </p:txBody>
      </p:sp>
      <p:sp>
        <p:nvSpPr>
          <p:cNvPr id="19" name="Text 17"/>
          <p:cNvSpPr/>
          <p:nvPr/>
        </p:nvSpPr>
        <p:spPr>
          <a:xfrm>
            <a:off x="1737360" y="5422392"/>
            <a:ext cx="4572000" cy="45720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Managers see the gap between present and productive.</a:t>
            </a:r>
            <a:endParaRPr lang="en-US" sz="1300" dirty="0"/>
          </a:p>
        </p:txBody>
      </p:sp>
      <p:sp>
        <p:nvSpPr>
          <p:cNvPr id="20" name="Shape 18"/>
          <p:cNvSpPr/>
          <p:nvPr/>
        </p:nvSpPr>
        <p:spPr>
          <a:xfrm>
            <a:off x="6949440" y="1874520"/>
            <a:ext cx="4434840" cy="3291840"/>
          </a:xfrm>
          <a:prstGeom prst="roundRect">
            <a:avLst>
              <a:gd name="adj" fmla="val 3333"/>
            </a:avLst>
          </a:prstGeom>
          <a:solidFill>
            <a:srgbClr val="052A33"/>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21" name="Text 19"/>
          <p:cNvSpPr/>
          <p:nvPr/>
        </p:nvSpPr>
        <p:spPr>
          <a:xfrm>
            <a:off x="7269480" y="2194560"/>
            <a:ext cx="384048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Stops from day one</a:t>
            </a:r>
            <a:endParaRPr lang="en-US" sz="1500" dirty="0"/>
          </a:p>
        </p:txBody>
      </p:sp>
      <p:sp>
        <p:nvSpPr>
          <p:cNvPr id="22" name="Text 20"/>
          <p:cNvSpPr/>
          <p:nvPr/>
        </p:nvSpPr>
        <p:spPr>
          <a:xfrm>
            <a:off x="7269480" y="2697480"/>
            <a:ext cx="384048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Buddy / proxy punching</a:t>
            </a:r>
            <a:endParaRPr lang="en-US" sz="1500" dirty="0"/>
          </a:p>
        </p:txBody>
      </p:sp>
      <p:sp>
        <p:nvSpPr>
          <p:cNvPr id="23" name="Text 21"/>
          <p:cNvSpPr/>
          <p:nvPr/>
        </p:nvSpPr>
        <p:spPr>
          <a:xfrm>
            <a:off x="7269480" y="3200400"/>
            <a:ext cx="384048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Attendance you can't trust</a:t>
            </a:r>
            <a:endParaRPr lang="en-US" sz="1500" dirty="0"/>
          </a:p>
        </p:txBody>
      </p:sp>
      <p:sp>
        <p:nvSpPr>
          <p:cNvPr id="24" name="Text 22"/>
          <p:cNvSpPr/>
          <p:nvPr/>
        </p:nvSpPr>
        <p:spPr>
          <a:xfrm>
            <a:off x="7269480" y="3703320"/>
            <a:ext cx="384048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Unauthorised workstation use</a:t>
            </a:r>
            <a:endParaRPr lang="en-US" sz="1500" dirty="0"/>
          </a:p>
        </p:txBody>
      </p:sp>
      <p:sp>
        <p:nvSpPr>
          <p:cNvPr id="25" name="Text 23"/>
          <p:cNvSpPr/>
          <p:nvPr/>
        </p:nvSpPr>
        <p:spPr>
          <a:xfrm>
            <a:off x="7269480" y="4343400"/>
            <a:ext cx="3840480" cy="731520"/>
          </a:xfrm>
          <a:prstGeom prst="rect">
            <a:avLst/>
          </a:prstGeom>
          <a:noFill/>
          <a:ln/>
        </p:spPr>
        <p:txBody>
          <a:bodyPr wrap="square" lIns="0" tIns="0" rIns="0" bIns="0" rtlCol="0" anchor="ctr"/>
          <a:lstStyle/>
          <a:p>
            <a:pPr indent="0" marL="0">
              <a:buNone/>
            </a:pPr>
            <a:r>
              <a:rPr lang="en-US" sz="1250" i="1" dirty="0">
                <a:solidFill>
                  <a:srgbClr val="CFE3E7"/>
                </a:solidFill>
                <a:latin typeface="Calibri" pitchFamily="34" charset="0"/>
                <a:ea typeface="Calibri" pitchFamily="34" charset="-122"/>
                <a:cs typeface="Calibri" pitchFamily="34" charset="-120"/>
              </a:rPr>
              <a:t>Fail-safe: if the door is down, an authorised person can approve login — every fallback is logged.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USP 2 · CLIENT DATA OWNERSHIP</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Your operational data stays yours</a:t>
            </a:r>
            <a:endParaRPr lang="en-US" sz="3400" dirty="0"/>
          </a:p>
        </p:txBody>
      </p:sp>
      <p:sp>
        <p:nvSpPr>
          <p:cNvPr id="4" name="Text 2"/>
          <p:cNvSpPr/>
          <p:nvPr/>
        </p:nvSpPr>
        <p:spPr>
          <a:xfrm>
            <a:off x="822960" y="1783080"/>
            <a:ext cx="10424160" cy="91440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Choose On-premises and every screenshot, activity record, camera event and productivity figure stays inside your own server or private cloud. Ametecs keeps only the licence information needed to activate and support you.</a:t>
            </a:r>
            <a:endParaRPr lang="en-US" sz="1500" dirty="0"/>
          </a:p>
        </p:txBody>
      </p:sp>
      <p:sp>
        <p:nvSpPr>
          <p:cNvPr id="5" name="Shape 3"/>
          <p:cNvSpPr/>
          <p:nvPr/>
        </p:nvSpPr>
        <p:spPr>
          <a:xfrm>
            <a:off x="822960" y="2926080"/>
            <a:ext cx="5120640" cy="2651760"/>
          </a:xfrm>
          <a:prstGeom prst="roundRect">
            <a:avLst>
              <a:gd name="adj" fmla="val 4138"/>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6" name="Text 4"/>
          <p:cNvSpPr/>
          <p:nvPr/>
        </p:nvSpPr>
        <p:spPr>
          <a:xfrm>
            <a:off x="1143000" y="3200400"/>
            <a:ext cx="4572000" cy="411480"/>
          </a:xfrm>
          <a:prstGeom prst="rect">
            <a:avLst/>
          </a:prstGeom>
          <a:noFill/>
          <a:ln/>
        </p:spPr>
        <p:txBody>
          <a:bodyPr wrap="square" lIns="0" tIns="0" rIns="0" bIns="0" rtlCol="0" anchor="ctr"/>
          <a:lstStyle/>
          <a:p>
            <a:pPr indent="0" marL="0">
              <a:buNone/>
            </a:pPr>
            <a:r>
              <a:rPr lang="en-US" sz="2000" b="1" dirty="0">
                <a:solidFill>
                  <a:srgbClr val="052A33"/>
                </a:solidFill>
                <a:latin typeface="Calibri" pitchFamily="34" charset="0"/>
                <a:ea typeface="Calibri" pitchFamily="34" charset="-122"/>
                <a:cs typeface="Calibri" pitchFamily="34" charset="-120"/>
              </a:rPr>
              <a:t>On-premises</a:t>
            </a:r>
            <a:endParaRPr lang="en-US" sz="2000" dirty="0"/>
          </a:p>
        </p:txBody>
      </p:sp>
      <p:sp>
        <p:nvSpPr>
          <p:cNvPr id="7" name="Shape 5"/>
          <p:cNvSpPr/>
          <p:nvPr/>
        </p:nvSpPr>
        <p:spPr>
          <a:xfrm>
            <a:off x="1143000" y="3657600"/>
            <a:ext cx="1828800" cy="384048"/>
          </a:xfrm>
          <a:prstGeom prst="roundRect">
            <a:avLst>
              <a:gd name="adj" fmla="val 50000"/>
            </a:avLst>
          </a:prstGeom>
          <a:solidFill>
            <a:srgbClr val="0A9464"/>
          </a:solidFill>
          <a:ln/>
        </p:spPr>
      </p:sp>
      <p:sp>
        <p:nvSpPr>
          <p:cNvPr id="8" name="Text 6"/>
          <p:cNvSpPr/>
          <p:nvPr/>
        </p:nvSpPr>
        <p:spPr>
          <a:xfrm>
            <a:off x="1143000" y="3657600"/>
            <a:ext cx="18288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Your server</a:t>
            </a:r>
            <a:endParaRPr lang="en-US" sz="1250" dirty="0"/>
          </a:p>
        </p:txBody>
      </p:sp>
      <p:sp>
        <p:nvSpPr>
          <p:cNvPr id="9" name="Text 7"/>
          <p:cNvSpPr/>
          <p:nvPr/>
        </p:nvSpPr>
        <p:spPr>
          <a:xfrm>
            <a:off x="1143000" y="4206240"/>
            <a:ext cx="4572000" cy="128016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All data on YOUR infrastructure. Runs even if we're offline (offline signed licence). We never touch it.</a:t>
            </a:r>
            <a:endParaRPr lang="en-US" sz="1400" dirty="0"/>
          </a:p>
        </p:txBody>
      </p:sp>
      <p:sp>
        <p:nvSpPr>
          <p:cNvPr id="10" name="Shape 8"/>
          <p:cNvSpPr/>
          <p:nvPr/>
        </p:nvSpPr>
        <p:spPr>
          <a:xfrm>
            <a:off x="6263640" y="2926080"/>
            <a:ext cx="5120640" cy="2651760"/>
          </a:xfrm>
          <a:prstGeom prst="roundRect">
            <a:avLst>
              <a:gd name="adj" fmla="val 4138"/>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1" name="Text 9"/>
          <p:cNvSpPr/>
          <p:nvPr/>
        </p:nvSpPr>
        <p:spPr>
          <a:xfrm>
            <a:off x="6583680" y="3200400"/>
            <a:ext cx="4572000" cy="411480"/>
          </a:xfrm>
          <a:prstGeom prst="rect">
            <a:avLst/>
          </a:prstGeom>
          <a:noFill/>
          <a:ln/>
        </p:spPr>
        <p:txBody>
          <a:bodyPr wrap="square" lIns="0" tIns="0" rIns="0" bIns="0" rtlCol="0" anchor="ctr"/>
          <a:lstStyle/>
          <a:p>
            <a:pPr indent="0" marL="0">
              <a:buNone/>
            </a:pPr>
            <a:r>
              <a:rPr lang="en-US" sz="2000" b="1" dirty="0">
                <a:solidFill>
                  <a:srgbClr val="052A33"/>
                </a:solidFill>
                <a:latin typeface="Calibri" pitchFamily="34" charset="0"/>
                <a:ea typeface="Calibri" pitchFamily="34" charset="-122"/>
                <a:cs typeface="Calibri" pitchFamily="34" charset="-120"/>
              </a:rPr>
              <a:t>Managed Cloud</a:t>
            </a:r>
            <a:endParaRPr lang="en-US" sz="2000" dirty="0"/>
          </a:p>
        </p:txBody>
      </p:sp>
      <p:sp>
        <p:nvSpPr>
          <p:cNvPr id="12" name="Shape 10"/>
          <p:cNvSpPr/>
          <p:nvPr/>
        </p:nvSpPr>
        <p:spPr>
          <a:xfrm>
            <a:off x="6583680" y="3657600"/>
            <a:ext cx="1828800" cy="384048"/>
          </a:xfrm>
          <a:prstGeom prst="roundRect">
            <a:avLst>
              <a:gd name="adj" fmla="val 50000"/>
            </a:avLst>
          </a:prstGeom>
          <a:solidFill>
            <a:srgbClr val="0E7C8F"/>
          </a:solidFill>
          <a:ln/>
        </p:spPr>
      </p:sp>
      <p:sp>
        <p:nvSpPr>
          <p:cNvPr id="13" name="Text 11"/>
          <p:cNvSpPr/>
          <p:nvPr/>
        </p:nvSpPr>
        <p:spPr>
          <a:xfrm>
            <a:off x="6583680" y="3657600"/>
            <a:ext cx="18288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 host it</a:t>
            </a:r>
            <a:endParaRPr lang="en-US" sz="1250" dirty="0"/>
          </a:p>
        </p:txBody>
      </p:sp>
      <p:sp>
        <p:nvSpPr>
          <p:cNvPr id="14" name="Text 12"/>
          <p:cNvSpPr/>
          <p:nvPr/>
        </p:nvSpPr>
        <p:spPr>
          <a:xfrm>
            <a:off x="6583680" y="4206240"/>
            <a:ext cx="4572000" cy="128016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We run the server, backups &amp; updates. You just install the agent. Same product, same features.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USP 3 · PERPETUAL LICENCE</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Own it forever — not rent it forever</a:t>
            </a:r>
            <a:endParaRPr lang="en-US" sz="3400" dirty="0"/>
          </a:p>
        </p:txBody>
      </p:sp>
      <p:sp>
        <p:nvSpPr>
          <p:cNvPr id="4" name="Shape 2"/>
          <p:cNvSpPr/>
          <p:nvPr/>
        </p:nvSpPr>
        <p:spPr>
          <a:xfrm>
            <a:off x="822960" y="1920240"/>
            <a:ext cx="5120640" cy="3566160"/>
          </a:xfrm>
          <a:prstGeom prst="roundRect">
            <a:avLst>
              <a:gd name="adj" fmla="val 3077"/>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Text 3"/>
          <p:cNvSpPr/>
          <p:nvPr/>
        </p:nvSpPr>
        <p:spPr>
          <a:xfrm>
            <a:off x="1143000" y="2194560"/>
            <a:ext cx="4572000" cy="411480"/>
          </a:xfrm>
          <a:prstGeom prst="rect">
            <a:avLst/>
          </a:prstGeom>
          <a:noFill/>
          <a:ln/>
        </p:spPr>
        <p:txBody>
          <a:bodyPr wrap="square" lIns="0" tIns="0" rIns="0" bIns="0" rtlCol="0" anchor="ctr"/>
          <a:lstStyle/>
          <a:p>
            <a:pPr indent="0" marL="0">
              <a:buNone/>
            </a:pPr>
            <a:r>
              <a:rPr lang="en-US" sz="1900" b="1" dirty="0">
                <a:solidFill>
                  <a:srgbClr val="B7791F"/>
                </a:solidFill>
                <a:latin typeface="Calibri" pitchFamily="34" charset="0"/>
                <a:ea typeface="Calibri" pitchFamily="34" charset="-122"/>
                <a:cs typeface="Calibri" pitchFamily="34" charset="-120"/>
              </a:rPr>
              <a:t>Rent (typical tools)</a:t>
            </a:r>
            <a:endParaRPr lang="en-US" sz="1900" dirty="0"/>
          </a:p>
        </p:txBody>
      </p:sp>
      <p:sp>
        <p:nvSpPr>
          <p:cNvPr id="6" name="Text 4"/>
          <p:cNvSpPr/>
          <p:nvPr/>
        </p:nvSpPr>
        <p:spPr>
          <a:xfrm>
            <a:off x="1143000" y="2743200"/>
            <a:ext cx="4480560" cy="457200"/>
          </a:xfrm>
          <a:prstGeom prst="rect">
            <a:avLst/>
          </a:prstGeom>
          <a:noFill/>
          <a:ln/>
        </p:spPr>
        <p:txBody>
          <a:bodyPr wrap="square" lIns="0" tIns="0" rIns="0" bIns="0" rtlCol="0" anchor="ctr"/>
          <a:lstStyle/>
          <a:p>
            <a:pPr indent="0" marL="0">
              <a:buNone/>
            </a:pPr>
            <a:r>
              <a:rPr lang="en-US" sz="1450" dirty="0">
                <a:solidFill>
                  <a:srgbClr val="4A5A66"/>
                </a:solidFill>
                <a:latin typeface="Calibri" pitchFamily="34" charset="0"/>
                <a:ea typeface="Calibri" pitchFamily="34" charset="-122"/>
                <a:cs typeface="Calibri" pitchFamily="34" charset="-120"/>
              </a:rPr>
              <a:t>✕  Pay every month — forever</a:t>
            </a:r>
            <a:endParaRPr lang="en-US" sz="1450" dirty="0"/>
          </a:p>
        </p:txBody>
      </p:sp>
      <p:sp>
        <p:nvSpPr>
          <p:cNvPr id="7" name="Text 5"/>
          <p:cNvSpPr/>
          <p:nvPr/>
        </p:nvSpPr>
        <p:spPr>
          <a:xfrm>
            <a:off x="1143000" y="3291840"/>
            <a:ext cx="4480560" cy="457200"/>
          </a:xfrm>
          <a:prstGeom prst="rect">
            <a:avLst/>
          </a:prstGeom>
          <a:noFill/>
          <a:ln/>
        </p:spPr>
        <p:txBody>
          <a:bodyPr wrap="square" lIns="0" tIns="0" rIns="0" bIns="0" rtlCol="0" anchor="ctr"/>
          <a:lstStyle/>
          <a:p>
            <a:pPr indent="0" marL="0">
              <a:buNone/>
            </a:pPr>
            <a:r>
              <a:rPr lang="en-US" sz="1450" dirty="0">
                <a:solidFill>
                  <a:srgbClr val="4A5A66"/>
                </a:solidFill>
                <a:latin typeface="Calibri" pitchFamily="34" charset="0"/>
                <a:ea typeface="Calibri" pitchFamily="34" charset="-122"/>
                <a:cs typeface="Calibri" pitchFamily="34" charset="-120"/>
              </a:rPr>
              <a:t>✕  Stop paying, lose access</a:t>
            </a:r>
            <a:endParaRPr lang="en-US" sz="1450" dirty="0"/>
          </a:p>
        </p:txBody>
      </p:sp>
      <p:sp>
        <p:nvSpPr>
          <p:cNvPr id="8" name="Text 6"/>
          <p:cNvSpPr/>
          <p:nvPr/>
        </p:nvSpPr>
        <p:spPr>
          <a:xfrm>
            <a:off x="1143000" y="3840480"/>
            <a:ext cx="4480560" cy="457200"/>
          </a:xfrm>
          <a:prstGeom prst="rect">
            <a:avLst/>
          </a:prstGeom>
          <a:noFill/>
          <a:ln/>
        </p:spPr>
        <p:txBody>
          <a:bodyPr wrap="square" lIns="0" tIns="0" rIns="0" bIns="0" rtlCol="0" anchor="ctr"/>
          <a:lstStyle/>
          <a:p>
            <a:pPr indent="0" marL="0">
              <a:buNone/>
            </a:pPr>
            <a:r>
              <a:rPr lang="en-US" sz="1450" dirty="0">
                <a:solidFill>
                  <a:srgbClr val="4A5A66"/>
                </a:solidFill>
                <a:latin typeface="Calibri" pitchFamily="34" charset="0"/>
                <a:ea typeface="Calibri" pitchFamily="34" charset="-122"/>
                <a:cs typeface="Calibri" pitchFamily="34" charset="-120"/>
              </a:rPr>
              <a:t>✕  You never own anything</a:t>
            </a:r>
            <a:endParaRPr lang="en-US" sz="1450" dirty="0"/>
          </a:p>
        </p:txBody>
      </p:sp>
      <p:sp>
        <p:nvSpPr>
          <p:cNvPr id="9" name="Text 7"/>
          <p:cNvSpPr/>
          <p:nvPr/>
        </p:nvSpPr>
        <p:spPr>
          <a:xfrm>
            <a:off x="1143000" y="4389120"/>
            <a:ext cx="4480560" cy="457200"/>
          </a:xfrm>
          <a:prstGeom prst="rect">
            <a:avLst/>
          </a:prstGeom>
          <a:noFill/>
          <a:ln/>
        </p:spPr>
        <p:txBody>
          <a:bodyPr wrap="square" lIns="0" tIns="0" rIns="0" bIns="0" rtlCol="0" anchor="ctr"/>
          <a:lstStyle/>
          <a:p>
            <a:pPr indent="0" marL="0">
              <a:buNone/>
            </a:pPr>
            <a:r>
              <a:rPr lang="en-US" sz="1450" dirty="0">
                <a:solidFill>
                  <a:srgbClr val="4A5A66"/>
                </a:solidFill>
                <a:latin typeface="Calibri" pitchFamily="34" charset="0"/>
                <a:ea typeface="Calibri" pitchFamily="34" charset="-122"/>
                <a:cs typeface="Calibri" pitchFamily="34" charset="-120"/>
              </a:rPr>
              <a:t>✕  Costs pile up year after year</a:t>
            </a:r>
            <a:endParaRPr lang="en-US" sz="1450" dirty="0"/>
          </a:p>
        </p:txBody>
      </p:sp>
      <p:sp>
        <p:nvSpPr>
          <p:cNvPr id="10" name="Shape 8"/>
          <p:cNvSpPr/>
          <p:nvPr/>
        </p:nvSpPr>
        <p:spPr>
          <a:xfrm>
            <a:off x="6263640" y="1920240"/>
            <a:ext cx="5120640" cy="3566160"/>
          </a:xfrm>
          <a:prstGeom prst="roundRect">
            <a:avLst>
              <a:gd name="adj" fmla="val 3077"/>
            </a:avLst>
          </a:prstGeom>
          <a:solidFill>
            <a:srgbClr val="052A33"/>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1" name="Text 9"/>
          <p:cNvSpPr/>
          <p:nvPr/>
        </p:nvSpPr>
        <p:spPr>
          <a:xfrm>
            <a:off x="6583680" y="2194560"/>
            <a:ext cx="4572000" cy="411480"/>
          </a:xfrm>
          <a:prstGeom prst="rect">
            <a:avLst/>
          </a:prstGeom>
          <a:noFill/>
          <a:ln/>
        </p:spPr>
        <p:txBody>
          <a:bodyPr wrap="square" lIns="0" tIns="0" rIns="0" bIns="0" rtlCol="0" anchor="ctr"/>
          <a:lstStyle/>
          <a:p>
            <a:pPr indent="0" marL="0">
              <a:buNone/>
            </a:pPr>
            <a:r>
              <a:rPr lang="en-US" sz="1900" b="1" dirty="0">
                <a:solidFill>
                  <a:srgbClr val="31D2E8"/>
                </a:solidFill>
                <a:latin typeface="Calibri" pitchFamily="34" charset="0"/>
                <a:ea typeface="Calibri" pitchFamily="34" charset="-122"/>
                <a:cs typeface="Calibri" pitchFamily="34" charset="-120"/>
              </a:rPr>
              <a:t>Own with SmartEPT</a:t>
            </a:r>
            <a:endParaRPr lang="en-US" sz="1900" dirty="0"/>
          </a:p>
        </p:txBody>
      </p:sp>
      <p:sp>
        <p:nvSpPr>
          <p:cNvPr id="12" name="Text 10"/>
          <p:cNvSpPr/>
          <p:nvPr/>
        </p:nvSpPr>
        <p:spPr>
          <a:xfrm>
            <a:off x="6583680" y="2743200"/>
            <a:ext cx="4480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One-time price by user capacity</a:t>
            </a:r>
            <a:endParaRPr lang="en-US" sz="1450" dirty="0"/>
          </a:p>
        </p:txBody>
      </p:sp>
      <p:sp>
        <p:nvSpPr>
          <p:cNvPr id="13" name="Text 11"/>
          <p:cNvSpPr/>
          <p:nvPr/>
        </p:nvSpPr>
        <p:spPr>
          <a:xfrm>
            <a:off x="6583680" y="3291840"/>
            <a:ext cx="4480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Licence never expires</a:t>
            </a:r>
            <a:endParaRPr lang="en-US" sz="1450" dirty="0"/>
          </a:p>
        </p:txBody>
      </p:sp>
      <p:sp>
        <p:nvSpPr>
          <p:cNvPr id="14" name="Text 12"/>
          <p:cNvSpPr/>
          <p:nvPr/>
        </p:nvSpPr>
        <p:spPr>
          <a:xfrm>
            <a:off x="6583680" y="3840480"/>
            <a:ext cx="4480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First year of updates &amp; support in</a:t>
            </a:r>
            <a:endParaRPr lang="en-US" sz="1450" dirty="0"/>
          </a:p>
        </p:txBody>
      </p:sp>
      <p:sp>
        <p:nvSpPr>
          <p:cNvPr id="15" name="Text 13"/>
          <p:cNvSpPr/>
          <p:nvPr/>
        </p:nvSpPr>
        <p:spPr>
          <a:xfrm>
            <a:off x="6583680" y="4389120"/>
            <a:ext cx="4480560" cy="4572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  Optional AMC only if you want it</a:t>
            </a:r>
            <a:endParaRPr lang="en-US" sz="1450" dirty="0"/>
          </a:p>
        </p:txBody>
      </p:sp>
      <p:sp>
        <p:nvSpPr>
          <p:cNvPr id="16" name="Text 14"/>
          <p:cNvSpPr/>
          <p:nvPr/>
        </p:nvSpPr>
        <p:spPr>
          <a:xfrm>
            <a:off x="6583680" y="4983480"/>
            <a:ext cx="4572000" cy="365760"/>
          </a:xfrm>
          <a:prstGeom prst="rect">
            <a:avLst/>
          </a:prstGeom>
          <a:noFill/>
          <a:ln/>
        </p:spPr>
        <p:txBody>
          <a:bodyPr wrap="square" lIns="0" tIns="0" rIns="0" bIns="0" rtlCol="0" anchor="ctr"/>
          <a:lstStyle/>
          <a:p>
            <a:pPr indent="0" marL="0">
              <a:buNone/>
            </a:pPr>
            <a:r>
              <a:rPr lang="en-US" sz="1400" dirty="0">
                <a:solidFill>
                  <a:srgbClr val="CFE3E7"/>
                </a:solidFill>
                <a:latin typeface="Calibri" pitchFamily="34" charset="0"/>
                <a:ea typeface="Calibri" pitchFamily="34" charset="-122"/>
                <a:cs typeface="Calibri" pitchFamily="34" charset="-120"/>
              </a:rPr>
              <a:t>From </a:t>
            </a:r>
            <a:pPr indent="0" marL="0">
              <a:buNone/>
            </a:pPr>
            <a:r>
              <a:rPr lang="en-US" sz="1400" b="1" dirty="0">
                <a:solidFill>
                  <a:srgbClr val="31D2E8"/>
                </a:solidFill>
                <a:latin typeface="Calibri" pitchFamily="34" charset="0"/>
                <a:ea typeface="Calibri" pitchFamily="34" charset="-122"/>
                <a:cs typeface="Calibri" pitchFamily="34" charset="-120"/>
              </a:rPr>
              <a:t>₹25,000 one-time</a:t>
            </a:r>
            <a:pPr indent="0" marL="0">
              <a:buNone/>
            </a:pPr>
            <a:r>
              <a:rPr lang="en-US" sz="1400" dirty="0">
                <a:solidFill>
                  <a:srgbClr val="CFE3E7"/>
                </a:solidFill>
                <a:latin typeface="Calibri" pitchFamily="34" charset="0"/>
                <a:ea typeface="Calibri" pitchFamily="34" charset="-122"/>
                <a:cs typeface="Calibri" pitchFamily="34" charset="-120"/>
              </a:rPr>
              <a:t>  ·  all features included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ONE COMPLETE PLATFORM</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Everything a manager needs — included</a:t>
            </a:r>
            <a:endParaRPr lang="en-US" sz="3400" dirty="0"/>
          </a:p>
        </p:txBody>
      </p:sp>
      <p:sp>
        <p:nvSpPr>
          <p:cNvPr id="4" name="Shape 2"/>
          <p:cNvSpPr/>
          <p:nvPr/>
        </p:nvSpPr>
        <p:spPr>
          <a:xfrm>
            <a:off x="822960" y="1874520"/>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Shape 3"/>
          <p:cNvSpPr/>
          <p:nvPr/>
        </p:nvSpPr>
        <p:spPr>
          <a:xfrm>
            <a:off x="1051560" y="2093976"/>
            <a:ext cx="438912" cy="438912"/>
          </a:xfrm>
          <a:prstGeom prst="ellipse">
            <a:avLst/>
          </a:prstGeom>
          <a:solidFill>
            <a:srgbClr val="E1F3F6"/>
          </a:solidFill>
          <a:ln/>
        </p:spPr>
      </p:sp>
      <p:sp>
        <p:nvSpPr>
          <p:cNvPr id="6" name="Text 4"/>
          <p:cNvSpPr/>
          <p:nvPr/>
        </p:nvSpPr>
        <p:spPr>
          <a:xfrm>
            <a:off x="1051560" y="2093976"/>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645920" y="1874520"/>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Attendance &amp; shifts</a:t>
            </a:r>
            <a:endParaRPr lang="en-US" sz="1350" dirty="0"/>
          </a:p>
        </p:txBody>
      </p:sp>
      <p:sp>
        <p:nvSpPr>
          <p:cNvPr id="8" name="Shape 6"/>
          <p:cNvSpPr/>
          <p:nvPr/>
        </p:nvSpPr>
        <p:spPr>
          <a:xfrm>
            <a:off x="4526280" y="1874520"/>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9" name="Shape 7"/>
          <p:cNvSpPr/>
          <p:nvPr/>
        </p:nvSpPr>
        <p:spPr>
          <a:xfrm>
            <a:off x="4754880" y="2093976"/>
            <a:ext cx="438912" cy="438912"/>
          </a:xfrm>
          <a:prstGeom prst="ellipse">
            <a:avLst/>
          </a:prstGeom>
          <a:solidFill>
            <a:srgbClr val="E1F3F6"/>
          </a:solidFill>
          <a:ln/>
        </p:spPr>
      </p:sp>
      <p:sp>
        <p:nvSpPr>
          <p:cNvPr id="10" name="Text 8"/>
          <p:cNvSpPr/>
          <p:nvPr/>
        </p:nvSpPr>
        <p:spPr>
          <a:xfrm>
            <a:off x="4754880" y="2093976"/>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5349240" y="1874520"/>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Active vs idle time</a:t>
            </a:r>
            <a:endParaRPr lang="en-US" sz="1350" dirty="0"/>
          </a:p>
        </p:txBody>
      </p:sp>
      <p:sp>
        <p:nvSpPr>
          <p:cNvPr id="12" name="Shape 10"/>
          <p:cNvSpPr/>
          <p:nvPr/>
        </p:nvSpPr>
        <p:spPr>
          <a:xfrm>
            <a:off x="8229600" y="1874520"/>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3" name="Shape 11"/>
          <p:cNvSpPr/>
          <p:nvPr/>
        </p:nvSpPr>
        <p:spPr>
          <a:xfrm>
            <a:off x="8458200" y="2093976"/>
            <a:ext cx="438912" cy="438912"/>
          </a:xfrm>
          <a:prstGeom prst="ellipse">
            <a:avLst/>
          </a:prstGeom>
          <a:solidFill>
            <a:srgbClr val="E1F3F6"/>
          </a:solidFill>
          <a:ln/>
        </p:spPr>
      </p:sp>
      <p:sp>
        <p:nvSpPr>
          <p:cNvPr id="14" name="Text 12"/>
          <p:cNvSpPr/>
          <p:nvPr/>
        </p:nvSpPr>
        <p:spPr>
          <a:xfrm>
            <a:off x="8458200" y="2093976"/>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9052560" y="1874520"/>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App &amp; website usage</a:t>
            </a:r>
            <a:endParaRPr lang="en-US" sz="1350" dirty="0"/>
          </a:p>
        </p:txBody>
      </p:sp>
      <p:sp>
        <p:nvSpPr>
          <p:cNvPr id="16" name="Shape 14"/>
          <p:cNvSpPr/>
          <p:nvPr/>
        </p:nvSpPr>
        <p:spPr>
          <a:xfrm>
            <a:off x="822960" y="2898648"/>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7" name="Shape 15"/>
          <p:cNvSpPr/>
          <p:nvPr/>
        </p:nvSpPr>
        <p:spPr>
          <a:xfrm>
            <a:off x="1051560" y="3118104"/>
            <a:ext cx="438912" cy="438912"/>
          </a:xfrm>
          <a:prstGeom prst="ellipse">
            <a:avLst/>
          </a:prstGeom>
          <a:solidFill>
            <a:srgbClr val="E1F3F6"/>
          </a:solidFill>
          <a:ln/>
        </p:spPr>
      </p:sp>
      <p:sp>
        <p:nvSpPr>
          <p:cNvPr id="18" name="Text 16"/>
          <p:cNvSpPr/>
          <p:nvPr/>
        </p:nvSpPr>
        <p:spPr>
          <a:xfrm>
            <a:off x="1051560" y="3118104"/>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645920" y="2898648"/>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Screenshots (policy-driven)</a:t>
            </a:r>
            <a:endParaRPr lang="en-US" sz="1350" dirty="0"/>
          </a:p>
        </p:txBody>
      </p:sp>
      <p:sp>
        <p:nvSpPr>
          <p:cNvPr id="20" name="Shape 18"/>
          <p:cNvSpPr/>
          <p:nvPr/>
        </p:nvSpPr>
        <p:spPr>
          <a:xfrm>
            <a:off x="4526280" y="2898648"/>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21" name="Shape 19"/>
          <p:cNvSpPr/>
          <p:nvPr/>
        </p:nvSpPr>
        <p:spPr>
          <a:xfrm>
            <a:off x="4754880" y="3118104"/>
            <a:ext cx="438912" cy="438912"/>
          </a:xfrm>
          <a:prstGeom prst="ellipse">
            <a:avLst/>
          </a:prstGeom>
          <a:solidFill>
            <a:srgbClr val="E1F3F6"/>
          </a:solidFill>
          <a:ln/>
        </p:spPr>
      </p:sp>
      <p:sp>
        <p:nvSpPr>
          <p:cNvPr id="22" name="Text 20"/>
          <p:cNvSpPr/>
          <p:nvPr/>
        </p:nvSpPr>
        <p:spPr>
          <a:xfrm>
            <a:off x="4754880" y="3118104"/>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5349240" y="2898648"/>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Webcam presence</a:t>
            </a:r>
            <a:endParaRPr lang="en-US" sz="1350" dirty="0"/>
          </a:p>
        </p:txBody>
      </p:sp>
      <p:sp>
        <p:nvSpPr>
          <p:cNvPr id="24" name="Shape 22"/>
          <p:cNvSpPr/>
          <p:nvPr/>
        </p:nvSpPr>
        <p:spPr>
          <a:xfrm>
            <a:off x="8229600" y="2898648"/>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25" name="Shape 23"/>
          <p:cNvSpPr/>
          <p:nvPr/>
        </p:nvSpPr>
        <p:spPr>
          <a:xfrm>
            <a:off x="8458200" y="3118104"/>
            <a:ext cx="438912" cy="438912"/>
          </a:xfrm>
          <a:prstGeom prst="ellipse">
            <a:avLst/>
          </a:prstGeom>
          <a:solidFill>
            <a:srgbClr val="E1F3F6"/>
          </a:solidFill>
          <a:ln/>
        </p:spPr>
      </p:sp>
      <p:sp>
        <p:nvSpPr>
          <p:cNvPr id="26" name="Text 24"/>
          <p:cNvSpPr/>
          <p:nvPr/>
        </p:nvSpPr>
        <p:spPr>
          <a:xfrm>
            <a:off x="8458200" y="3118104"/>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9052560" y="2898648"/>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Live status &amp; live screen</a:t>
            </a:r>
            <a:endParaRPr lang="en-US" sz="1350" dirty="0"/>
          </a:p>
        </p:txBody>
      </p:sp>
      <p:sp>
        <p:nvSpPr>
          <p:cNvPr id="28" name="Shape 26"/>
          <p:cNvSpPr/>
          <p:nvPr/>
        </p:nvSpPr>
        <p:spPr>
          <a:xfrm>
            <a:off x="822960" y="3922776"/>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29" name="Shape 27"/>
          <p:cNvSpPr/>
          <p:nvPr/>
        </p:nvSpPr>
        <p:spPr>
          <a:xfrm>
            <a:off x="1051560" y="4142232"/>
            <a:ext cx="438912" cy="438912"/>
          </a:xfrm>
          <a:prstGeom prst="ellipse">
            <a:avLst/>
          </a:prstGeom>
          <a:solidFill>
            <a:srgbClr val="E1F3F6"/>
          </a:solidFill>
          <a:ln/>
        </p:spPr>
      </p:sp>
      <p:sp>
        <p:nvSpPr>
          <p:cNvPr id="30" name="Text 28"/>
          <p:cNvSpPr/>
          <p:nvPr/>
        </p:nvSpPr>
        <p:spPr>
          <a:xfrm>
            <a:off x="1051560" y="4142232"/>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645920" y="3922776"/>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Meetings &amp; scheduling</a:t>
            </a:r>
            <a:endParaRPr lang="en-US" sz="1350" dirty="0"/>
          </a:p>
        </p:txBody>
      </p:sp>
      <p:sp>
        <p:nvSpPr>
          <p:cNvPr id="32" name="Shape 30"/>
          <p:cNvSpPr/>
          <p:nvPr/>
        </p:nvSpPr>
        <p:spPr>
          <a:xfrm>
            <a:off x="4526280" y="3922776"/>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33" name="Shape 31"/>
          <p:cNvSpPr/>
          <p:nvPr/>
        </p:nvSpPr>
        <p:spPr>
          <a:xfrm>
            <a:off x="4754880" y="4142232"/>
            <a:ext cx="438912" cy="438912"/>
          </a:xfrm>
          <a:prstGeom prst="ellipse">
            <a:avLst/>
          </a:prstGeom>
          <a:solidFill>
            <a:srgbClr val="E1F3F6"/>
          </a:solidFill>
          <a:ln/>
        </p:spPr>
      </p:sp>
      <p:sp>
        <p:nvSpPr>
          <p:cNvPr id="34" name="Text 32"/>
          <p:cNvSpPr/>
          <p:nvPr/>
        </p:nvSpPr>
        <p:spPr>
          <a:xfrm>
            <a:off x="4754880" y="4142232"/>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35" name="Text 33"/>
          <p:cNvSpPr/>
          <p:nvPr/>
        </p:nvSpPr>
        <p:spPr>
          <a:xfrm>
            <a:off x="5349240" y="3922776"/>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Productivity scoring</a:t>
            </a:r>
            <a:endParaRPr lang="en-US" sz="1350" dirty="0"/>
          </a:p>
        </p:txBody>
      </p:sp>
      <p:sp>
        <p:nvSpPr>
          <p:cNvPr id="36" name="Shape 34"/>
          <p:cNvSpPr/>
          <p:nvPr/>
        </p:nvSpPr>
        <p:spPr>
          <a:xfrm>
            <a:off x="8229600" y="3922776"/>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37" name="Shape 35"/>
          <p:cNvSpPr/>
          <p:nvPr/>
        </p:nvSpPr>
        <p:spPr>
          <a:xfrm>
            <a:off x="8458200" y="4142232"/>
            <a:ext cx="438912" cy="438912"/>
          </a:xfrm>
          <a:prstGeom prst="ellipse">
            <a:avLst/>
          </a:prstGeom>
          <a:solidFill>
            <a:srgbClr val="E1F3F6"/>
          </a:solidFill>
          <a:ln/>
        </p:spPr>
      </p:sp>
      <p:sp>
        <p:nvSpPr>
          <p:cNvPr id="38" name="Text 36"/>
          <p:cNvSpPr/>
          <p:nvPr/>
        </p:nvSpPr>
        <p:spPr>
          <a:xfrm>
            <a:off x="8458200" y="4142232"/>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9052560" y="3922776"/>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Breaks &amp; time-outs</a:t>
            </a:r>
            <a:endParaRPr lang="en-US" sz="1350" dirty="0"/>
          </a:p>
        </p:txBody>
      </p:sp>
      <p:sp>
        <p:nvSpPr>
          <p:cNvPr id="40" name="Shape 38"/>
          <p:cNvSpPr/>
          <p:nvPr/>
        </p:nvSpPr>
        <p:spPr>
          <a:xfrm>
            <a:off x="822960" y="4946904"/>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41" name="Shape 39"/>
          <p:cNvSpPr/>
          <p:nvPr/>
        </p:nvSpPr>
        <p:spPr>
          <a:xfrm>
            <a:off x="1051560" y="5166360"/>
            <a:ext cx="438912" cy="438912"/>
          </a:xfrm>
          <a:prstGeom prst="ellipse">
            <a:avLst/>
          </a:prstGeom>
          <a:solidFill>
            <a:srgbClr val="E1F3F6"/>
          </a:solidFill>
          <a:ln/>
        </p:spPr>
      </p:sp>
      <p:sp>
        <p:nvSpPr>
          <p:cNvPr id="42" name="Text 40"/>
          <p:cNvSpPr/>
          <p:nvPr/>
        </p:nvSpPr>
        <p:spPr>
          <a:xfrm>
            <a:off x="1051560" y="5166360"/>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1645920" y="4946904"/>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Restrictions &amp; USB controls</a:t>
            </a:r>
            <a:endParaRPr lang="en-US" sz="1350" dirty="0"/>
          </a:p>
        </p:txBody>
      </p:sp>
      <p:sp>
        <p:nvSpPr>
          <p:cNvPr id="44" name="Shape 42"/>
          <p:cNvSpPr/>
          <p:nvPr/>
        </p:nvSpPr>
        <p:spPr>
          <a:xfrm>
            <a:off x="4526280" y="4946904"/>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45" name="Shape 43"/>
          <p:cNvSpPr/>
          <p:nvPr/>
        </p:nvSpPr>
        <p:spPr>
          <a:xfrm>
            <a:off x="4754880" y="5166360"/>
            <a:ext cx="438912" cy="438912"/>
          </a:xfrm>
          <a:prstGeom prst="ellipse">
            <a:avLst/>
          </a:prstGeom>
          <a:solidFill>
            <a:srgbClr val="E1F3F6"/>
          </a:solidFill>
          <a:ln/>
        </p:spPr>
      </p:sp>
      <p:sp>
        <p:nvSpPr>
          <p:cNvPr id="46" name="Text 44"/>
          <p:cNvSpPr/>
          <p:nvPr/>
        </p:nvSpPr>
        <p:spPr>
          <a:xfrm>
            <a:off x="4754880" y="5166360"/>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47" name="Text 45"/>
          <p:cNvSpPr/>
          <p:nvPr/>
        </p:nvSpPr>
        <p:spPr>
          <a:xfrm>
            <a:off x="5349240" y="4946904"/>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Biometric gate-to-PC</a:t>
            </a:r>
            <a:endParaRPr lang="en-US" sz="1350" dirty="0"/>
          </a:p>
        </p:txBody>
      </p:sp>
      <p:sp>
        <p:nvSpPr>
          <p:cNvPr id="48" name="Shape 46"/>
          <p:cNvSpPr/>
          <p:nvPr/>
        </p:nvSpPr>
        <p:spPr>
          <a:xfrm>
            <a:off x="8229600" y="4946904"/>
            <a:ext cx="3474720" cy="868680"/>
          </a:xfrm>
          <a:prstGeom prst="roundRect">
            <a:avLst>
              <a:gd name="adj" fmla="val 12632"/>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49" name="Shape 47"/>
          <p:cNvSpPr/>
          <p:nvPr/>
        </p:nvSpPr>
        <p:spPr>
          <a:xfrm>
            <a:off x="8458200" y="5166360"/>
            <a:ext cx="438912" cy="438912"/>
          </a:xfrm>
          <a:prstGeom prst="ellipse">
            <a:avLst/>
          </a:prstGeom>
          <a:solidFill>
            <a:srgbClr val="E1F3F6"/>
          </a:solidFill>
          <a:ln/>
        </p:spPr>
      </p:sp>
      <p:sp>
        <p:nvSpPr>
          <p:cNvPr id="50" name="Text 48"/>
          <p:cNvSpPr/>
          <p:nvPr/>
        </p:nvSpPr>
        <p:spPr>
          <a:xfrm>
            <a:off x="8458200" y="5166360"/>
            <a:ext cx="438912" cy="438912"/>
          </a:xfrm>
          <a:prstGeom prst="rect">
            <a:avLst/>
          </a:prstGeom>
          <a:noFill/>
          <a:ln/>
        </p:spPr>
        <p:txBody>
          <a:bodyPr wrap="square" lIns="0" tIns="0" rIns="0" bIns="0" rtlCol="0" anchor="ctr"/>
          <a:lstStyle/>
          <a:p>
            <a:pPr algn="ctr" indent="0" marL="0">
              <a:buNone/>
            </a:pPr>
            <a:r>
              <a:rPr lang="en-US" sz="1400" b="1" dirty="0">
                <a:solidFill>
                  <a:srgbClr val="0E7C8F"/>
                </a:solidFill>
                <a:latin typeface="Calibri" pitchFamily="34" charset="0"/>
                <a:ea typeface="Calibri" pitchFamily="34" charset="-122"/>
                <a:cs typeface="Calibri" pitchFamily="34" charset="-120"/>
              </a:rPr>
              <a:t>✓</a:t>
            </a:r>
            <a:endParaRPr lang="en-US" sz="1400" dirty="0"/>
          </a:p>
        </p:txBody>
      </p:sp>
      <p:sp>
        <p:nvSpPr>
          <p:cNvPr id="51" name="Text 49"/>
          <p:cNvSpPr/>
          <p:nvPr/>
        </p:nvSpPr>
        <p:spPr>
          <a:xfrm>
            <a:off x="9052560" y="4946904"/>
            <a:ext cx="2606040" cy="868680"/>
          </a:xfrm>
          <a:prstGeom prst="rect">
            <a:avLst/>
          </a:prstGeom>
          <a:noFill/>
          <a:ln/>
        </p:spPr>
        <p:txBody>
          <a:bodyPr wrap="square" lIns="0" tIns="0" rIns="0" bIns="0" rtlCol="0" anchor="ctr"/>
          <a:lstStyle/>
          <a:p>
            <a:pPr indent="0" marL="0">
              <a:buNone/>
            </a:pPr>
            <a:r>
              <a:rPr lang="en-US" sz="1350" b="1" dirty="0">
                <a:solidFill>
                  <a:srgbClr val="052A33"/>
                </a:solidFill>
                <a:latin typeface="Calibri" pitchFamily="34" charset="0"/>
                <a:ea typeface="Calibri" pitchFamily="34" charset="-122"/>
                <a:cs typeface="Calibri" pitchFamily="34" charset="-120"/>
              </a:rPr>
              <a:t>Reports, exports &amp; payroll pack</a:t>
            </a:r>
            <a:endParaRPr lang="en-US" sz="1350" dirty="0"/>
          </a:p>
        </p:txBody>
      </p:sp>
      <p:sp>
        <p:nvSpPr>
          <p:cNvPr id="52" name="Text 50"/>
          <p:cNvSpPr/>
          <p:nvPr/>
        </p:nvSpPr>
        <p:spPr>
          <a:xfrm>
            <a:off x="822960" y="6126480"/>
            <a:ext cx="10515600" cy="365760"/>
          </a:xfrm>
          <a:prstGeom prst="rect">
            <a:avLst/>
          </a:prstGeom>
          <a:noFill/>
          <a:ln/>
        </p:spPr>
        <p:txBody>
          <a:bodyPr wrap="square" lIns="0" tIns="0" rIns="0" bIns="0" rtlCol="0" anchor="ctr"/>
          <a:lstStyle/>
          <a:p>
            <a:pPr algn="ctr" indent="0" marL="0">
              <a:buNone/>
            </a:pPr>
            <a:r>
              <a:rPr lang="en-US" sz="1300" i="1" dirty="0">
                <a:solidFill>
                  <a:srgbClr val="4A5A66"/>
                </a:solidFill>
                <a:latin typeface="Calibri" pitchFamily="34" charset="0"/>
                <a:ea typeface="Calibri" pitchFamily="34" charset="-122"/>
                <a:cs typeface="Calibri" pitchFamily="34" charset="-120"/>
              </a:rPr>
              <a:t>Every standard feature is on — you choose your user capacity and how you deploy, not a cut-down edition.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CLARITY, NOT GUESSWORK</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A productivity score you can explain</a:t>
            </a:r>
            <a:endParaRPr lang="en-US" sz="3400" dirty="0"/>
          </a:p>
        </p:txBody>
      </p:sp>
      <p:sp>
        <p:nvSpPr>
          <p:cNvPr id="4" name="Shape 2"/>
          <p:cNvSpPr/>
          <p:nvPr/>
        </p:nvSpPr>
        <p:spPr>
          <a:xfrm>
            <a:off x="822960" y="2011680"/>
            <a:ext cx="3200400" cy="3291840"/>
          </a:xfrm>
          <a:prstGeom prst="roundRect">
            <a:avLst>
              <a:gd name="adj" fmla="val 3429"/>
            </a:avLst>
          </a:prstGeom>
          <a:solidFill>
            <a:srgbClr val="052A33"/>
          </a:solidFill>
          <a:ln/>
          <a:effectLst>
            <a:outerShdw sx="100000" sy="100000" kx="0" ky="0" algn="bl" rotWithShape="0" blurRad="114300" dist="38100" dir="5400000">
              <a:srgbClr val="0A2A33">
                <a:alpha val="16000"/>
              </a:srgbClr>
            </a:outerShdw>
          </a:effectLst>
        </p:spPr>
      </p:sp>
      <p:sp>
        <p:nvSpPr>
          <p:cNvPr id="5" name="Text 3"/>
          <p:cNvSpPr/>
          <p:nvPr/>
        </p:nvSpPr>
        <p:spPr>
          <a:xfrm>
            <a:off x="822960" y="2651760"/>
            <a:ext cx="3200400" cy="1005840"/>
          </a:xfrm>
          <a:prstGeom prst="rect">
            <a:avLst/>
          </a:prstGeom>
          <a:noFill/>
          <a:ln/>
        </p:spPr>
        <p:txBody>
          <a:bodyPr wrap="square" lIns="0" tIns="0" rIns="0" bIns="0" rtlCol="0" anchor="ctr"/>
          <a:lstStyle/>
          <a:p>
            <a:pPr algn="ctr" indent="0" marL="0">
              <a:buNone/>
            </a:pPr>
            <a:r>
              <a:rPr lang="en-US" sz="5600" b="1" dirty="0">
                <a:solidFill>
                  <a:srgbClr val="31D2E8"/>
                </a:solidFill>
                <a:latin typeface="Calibri" pitchFamily="34" charset="0"/>
                <a:ea typeface="Calibri" pitchFamily="34" charset="-122"/>
                <a:cs typeface="Calibri" pitchFamily="34" charset="-120"/>
              </a:rPr>
              <a:t>0–100</a:t>
            </a:r>
            <a:endParaRPr lang="en-US" sz="5600" dirty="0"/>
          </a:p>
        </p:txBody>
      </p:sp>
      <p:sp>
        <p:nvSpPr>
          <p:cNvPr id="6" name="Text 4"/>
          <p:cNvSpPr/>
          <p:nvPr/>
        </p:nvSpPr>
        <p:spPr>
          <a:xfrm>
            <a:off x="822960" y="3703320"/>
            <a:ext cx="32004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Productivity score</a:t>
            </a:r>
            <a:endParaRPr lang="en-US" sz="1600" dirty="0"/>
          </a:p>
        </p:txBody>
      </p:sp>
      <p:sp>
        <p:nvSpPr>
          <p:cNvPr id="7" name="Text 5"/>
          <p:cNvSpPr/>
          <p:nvPr/>
        </p:nvSpPr>
        <p:spPr>
          <a:xfrm>
            <a:off x="822960" y="4069080"/>
            <a:ext cx="3200400" cy="365760"/>
          </a:xfrm>
          <a:prstGeom prst="rect">
            <a:avLst/>
          </a:prstGeom>
          <a:noFill/>
          <a:ln/>
        </p:spPr>
        <p:txBody>
          <a:bodyPr wrap="square" lIns="0" tIns="0" rIns="0" bIns="0" rtlCol="0" anchor="ctr"/>
          <a:lstStyle/>
          <a:p>
            <a:pPr algn="ctr" indent="0" marL="0">
              <a:buNone/>
            </a:pPr>
            <a:r>
              <a:rPr lang="en-US" sz="1250" dirty="0">
                <a:solidFill>
                  <a:srgbClr val="CFE3E7"/>
                </a:solidFill>
                <a:latin typeface="Calibri" pitchFamily="34" charset="0"/>
                <a:ea typeface="Calibri" pitchFamily="34" charset="-122"/>
                <a:cs typeface="Calibri" pitchFamily="34" charset="-120"/>
              </a:rPr>
              <a:t>per employee, per day</a:t>
            </a:r>
            <a:endParaRPr lang="en-US" sz="1250" dirty="0"/>
          </a:p>
        </p:txBody>
      </p:sp>
      <p:sp>
        <p:nvSpPr>
          <p:cNvPr id="8" name="Shape 6"/>
          <p:cNvSpPr/>
          <p:nvPr/>
        </p:nvSpPr>
        <p:spPr>
          <a:xfrm>
            <a:off x="4480560" y="2057400"/>
            <a:ext cx="502920" cy="502920"/>
          </a:xfrm>
          <a:prstGeom prst="ellipse">
            <a:avLst/>
          </a:prstGeom>
          <a:solidFill>
            <a:srgbClr val="E1F3F6"/>
          </a:solidFill>
          <a:ln/>
        </p:spPr>
      </p:sp>
      <p:sp>
        <p:nvSpPr>
          <p:cNvPr id="9" name="Text 7"/>
          <p:cNvSpPr/>
          <p:nvPr/>
        </p:nvSpPr>
        <p:spPr>
          <a:xfrm>
            <a:off x="4480560" y="2057400"/>
            <a:ext cx="502920" cy="502920"/>
          </a:xfrm>
          <a:prstGeom prst="rect">
            <a:avLst/>
          </a:prstGeom>
          <a:noFill/>
          <a:ln/>
        </p:spPr>
        <p:txBody>
          <a:bodyPr wrap="square" lIns="0" tIns="0" rIns="0" bIns="0" rtlCol="0" anchor="ctr"/>
          <a:lstStyle/>
          <a:p>
            <a:pPr algn="ctr" indent="0" marL="0">
              <a:buNone/>
            </a:pPr>
            <a:r>
              <a:rPr lang="en-US" sz="1500" b="1" dirty="0">
                <a:solidFill>
                  <a:srgbClr val="0E7C8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5166360" y="2011680"/>
            <a:ext cx="6126480" cy="365760"/>
          </a:xfrm>
          <a:prstGeom prst="rect">
            <a:avLst/>
          </a:prstGeom>
          <a:noFill/>
          <a:ln/>
        </p:spPr>
        <p:txBody>
          <a:bodyPr wrap="square" lIns="0" tIns="0" rIns="0" bIns="0" rtlCol="0" anchor="ctr"/>
          <a:lstStyle/>
          <a:p>
            <a:pPr indent="0" marL="0">
              <a:buNone/>
            </a:pPr>
            <a:r>
              <a:rPr lang="en-US" sz="1550" b="1" dirty="0">
                <a:solidFill>
                  <a:srgbClr val="052A33"/>
                </a:solidFill>
                <a:latin typeface="Calibri" pitchFamily="34" charset="0"/>
                <a:ea typeface="Calibri" pitchFamily="34" charset="-122"/>
                <a:cs typeface="Calibri" pitchFamily="34" charset="-120"/>
              </a:rPr>
              <a:t>Productive working time</a:t>
            </a:r>
            <a:endParaRPr lang="en-US" sz="1550" dirty="0"/>
          </a:p>
        </p:txBody>
      </p:sp>
      <p:sp>
        <p:nvSpPr>
          <p:cNvPr id="11" name="Text 9"/>
          <p:cNvSpPr/>
          <p:nvPr/>
        </p:nvSpPr>
        <p:spPr>
          <a:xfrm>
            <a:off x="5166360" y="2359152"/>
            <a:ext cx="6126480" cy="3657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Active + meeting time counts up</a:t>
            </a:r>
            <a:endParaRPr lang="en-US" sz="1300" dirty="0"/>
          </a:p>
        </p:txBody>
      </p:sp>
      <p:sp>
        <p:nvSpPr>
          <p:cNvPr id="12" name="Shape 10"/>
          <p:cNvSpPr/>
          <p:nvPr/>
        </p:nvSpPr>
        <p:spPr>
          <a:xfrm>
            <a:off x="4480560" y="2898648"/>
            <a:ext cx="502920" cy="502920"/>
          </a:xfrm>
          <a:prstGeom prst="ellipse">
            <a:avLst/>
          </a:prstGeom>
          <a:solidFill>
            <a:srgbClr val="E1F3F6"/>
          </a:solidFill>
          <a:ln/>
        </p:spPr>
      </p:sp>
      <p:sp>
        <p:nvSpPr>
          <p:cNvPr id="13" name="Text 11"/>
          <p:cNvSpPr/>
          <p:nvPr/>
        </p:nvSpPr>
        <p:spPr>
          <a:xfrm>
            <a:off x="4480560" y="2898648"/>
            <a:ext cx="502920" cy="502920"/>
          </a:xfrm>
          <a:prstGeom prst="rect">
            <a:avLst/>
          </a:prstGeom>
          <a:noFill/>
          <a:ln/>
        </p:spPr>
        <p:txBody>
          <a:bodyPr wrap="square" lIns="0" tIns="0" rIns="0" bIns="0" rtlCol="0" anchor="ctr"/>
          <a:lstStyle/>
          <a:p>
            <a:pPr algn="ctr" indent="0" marL="0">
              <a:buNone/>
            </a:pPr>
            <a:r>
              <a:rPr lang="en-US" sz="1500" b="1" dirty="0">
                <a:solidFill>
                  <a:srgbClr val="0E7C8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166360" y="2852928"/>
            <a:ext cx="6126480" cy="365760"/>
          </a:xfrm>
          <a:prstGeom prst="rect">
            <a:avLst/>
          </a:prstGeom>
          <a:noFill/>
          <a:ln/>
        </p:spPr>
        <p:txBody>
          <a:bodyPr wrap="square" lIns="0" tIns="0" rIns="0" bIns="0" rtlCol="0" anchor="ctr"/>
          <a:lstStyle/>
          <a:p>
            <a:pPr indent="0" marL="0">
              <a:buNone/>
            </a:pPr>
            <a:r>
              <a:rPr lang="en-US" sz="1550" b="1" dirty="0">
                <a:solidFill>
                  <a:srgbClr val="052A33"/>
                </a:solidFill>
                <a:latin typeface="Calibri" pitchFamily="34" charset="0"/>
                <a:ea typeface="Calibri" pitchFamily="34" charset="-122"/>
                <a:cs typeface="Calibri" pitchFamily="34" charset="-120"/>
              </a:rPr>
              <a:t>Fair working window</a:t>
            </a:r>
            <a:endParaRPr lang="en-US" sz="1550" dirty="0"/>
          </a:p>
        </p:txBody>
      </p:sp>
      <p:sp>
        <p:nvSpPr>
          <p:cNvPr id="15" name="Text 13"/>
          <p:cNvSpPr/>
          <p:nvPr/>
        </p:nvSpPr>
        <p:spPr>
          <a:xfrm>
            <a:off x="5166360" y="3200400"/>
            <a:ext cx="6126480" cy="3657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Present time minus allotted break</a:t>
            </a:r>
            <a:endParaRPr lang="en-US" sz="1300" dirty="0"/>
          </a:p>
        </p:txBody>
      </p:sp>
      <p:sp>
        <p:nvSpPr>
          <p:cNvPr id="16" name="Shape 14"/>
          <p:cNvSpPr/>
          <p:nvPr/>
        </p:nvSpPr>
        <p:spPr>
          <a:xfrm>
            <a:off x="4480560" y="3739896"/>
            <a:ext cx="502920" cy="502920"/>
          </a:xfrm>
          <a:prstGeom prst="ellipse">
            <a:avLst/>
          </a:prstGeom>
          <a:solidFill>
            <a:srgbClr val="E1F3F6"/>
          </a:solidFill>
          <a:ln/>
        </p:spPr>
      </p:sp>
      <p:sp>
        <p:nvSpPr>
          <p:cNvPr id="17" name="Text 15"/>
          <p:cNvSpPr/>
          <p:nvPr/>
        </p:nvSpPr>
        <p:spPr>
          <a:xfrm>
            <a:off x="4480560" y="3739896"/>
            <a:ext cx="502920" cy="502920"/>
          </a:xfrm>
          <a:prstGeom prst="rect">
            <a:avLst/>
          </a:prstGeom>
          <a:noFill/>
          <a:ln/>
        </p:spPr>
        <p:txBody>
          <a:bodyPr wrap="square" lIns="0" tIns="0" rIns="0" bIns="0" rtlCol="0" anchor="ctr"/>
          <a:lstStyle/>
          <a:p>
            <a:pPr algn="ctr" indent="0" marL="0">
              <a:buNone/>
            </a:pPr>
            <a:r>
              <a:rPr lang="en-US" sz="1500" b="1" dirty="0">
                <a:solidFill>
                  <a:srgbClr val="0E7C8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5166360" y="3694176"/>
            <a:ext cx="6126480" cy="365760"/>
          </a:xfrm>
          <a:prstGeom prst="rect">
            <a:avLst/>
          </a:prstGeom>
          <a:noFill/>
          <a:ln/>
        </p:spPr>
        <p:txBody>
          <a:bodyPr wrap="square" lIns="0" tIns="0" rIns="0" bIns="0" rtlCol="0" anchor="ctr"/>
          <a:lstStyle/>
          <a:p>
            <a:pPr indent="0" marL="0">
              <a:buNone/>
            </a:pPr>
            <a:r>
              <a:rPr lang="en-US" sz="1550" b="1" dirty="0">
                <a:solidFill>
                  <a:srgbClr val="052A33"/>
                </a:solidFill>
                <a:latin typeface="Calibri" pitchFamily="34" charset="0"/>
                <a:ea typeface="Calibri" pitchFamily="34" charset="-122"/>
                <a:cs typeface="Calibri" pitchFamily="34" charset="-120"/>
              </a:rPr>
              <a:t>Fully transparent</a:t>
            </a:r>
            <a:endParaRPr lang="en-US" sz="1550" dirty="0"/>
          </a:p>
        </p:txBody>
      </p:sp>
      <p:sp>
        <p:nvSpPr>
          <p:cNvPr id="19" name="Text 17"/>
          <p:cNvSpPr/>
          <p:nvPr/>
        </p:nvSpPr>
        <p:spPr>
          <a:xfrm>
            <a:off x="5166360" y="4041648"/>
            <a:ext cx="6126480" cy="3657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A one-click view shows how each score was built</a:t>
            </a:r>
            <a:endParaRPr lang="en-US" sz="1300" dirty="0"/>
          </a:p>
        </p:txBody>
      </p:sp>
      <p:sp>
        <p:nvSpPr>
          <p:cNvPr id="20" name="Shape 18"/>
          <p:cNvSpPr/>
          <p:nvPr/>
        </p:nvSpPr>
        <p:spPr>
          <a:xfrm>
            <a:off x="4480560" y="4581144"/>
            <a:ext cx="502920" cy="502920"/>
          </a:xfrm>
          <a:prstGeom prst="ellipse">
            <a:avLst/>
          </a:prstGeom>
          <a:solidFill>
            <a:srgbClr val="E1F3F6"/>
          </a:solidFill>
          <a:ln/>
        </p:spPr>
      </p:sp>
      <p:sp>
        <p:nvSpPr>
          <p:cNvPr id="21" name="Text 19"/>
          <p:cNvSpPr/>
          <p:nvPr/>
        </p:nvSpPr>
        <p:spPr>
          <a:xfrm>
            <a:off x="4480560" y="4581144"/>
            <a:ext cx="502920" cy="502920"/>
          </a:xfrm>
          <a:prstGeom prst="rect">
            <a:avLst/>
          </a:prstGeom>
          <a:noFill/>
          <a:ln/>
        </p:spPr>
        <p:txBody>
          <a:bodyPr wrap="square" lIns="0" tIns="0" rIns="0" bIns="0" rtlCol="0" anchor="ctr"/>
          <a:lstStyle/>
          <a:p>
            <a:pPr algn="ctr" indent="0" marL="0">
              <a:buNone/>
            </a:pPr>
            <a:r>
              <a:rPr lang="en-US" sz="1500" b="1" dirty="0">
                <a:solidFill>
                  <a:srgbClr val="0E7C8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5166360" y="4535424"/>
            <a:ext cx="6126480" cy="365760"/>
          </a:xfrm>
          <a:prstGeom prst="rect">
            <a:avLst/>
          </a:prstGeom>
          <a:noFill/>
          <a:ln/>
        </p:spPr>
        <p:txBody>
          <a:bodyPr wrap="square" lIns="0" tIns="0" rIns="0" bIns="0" rtlCol="0" anchor="ctr"/>
          <a:lstStyle/>
          <a:p>
            <a:pPr indent="0" marL="0">
              <a:buNone/>
            </a:pPr>
            <a:r>
              <a:rPr lang="en-US" sz="1550" b="1" dirty="0">
                <a:solidFill>
                  <a:srgbClr val="052A33"/>
                </a:solidFill>
                <a:latin typeface="Calibri" pitchFamily="34" charset="0"/>
                <a:ea typeface="Calibri" pitchFamily="34" charset="-122"/>
                <a:cs typeface="Calibri" pitchFamily="34" charset="-120"/>
              </a:rPr>
              <a:t>Compliance score too</a:t>
            </a:r>
            <a:endParaRPr lang="en-US" sz="1550" dirty="0"/>
          </a:p>
        </p:txBody>
      </p:sp>
      <p:sp>
        <p:nvSpPr>
          <p:cNvPr id="23" name="Text 21"/>
          <p:cNvSpPr/>
          <p:nvPr/>
        </p:nvSpPr>
        <p:spPr>
          <a:xfrm>
            <a:off x="5166360" y="4882896"/>
            <a:ext cx="6126480" cy="365760"/>
          </a:xfrm>
          <a:prstGeom prst="rect">
            <a:avLst/>
          </a:prstGeom>
          <a:noFill/>
          <a:ln/>
        </p:spPr>
        <p:txBody>
          <a:bodyPr wrap="square" lIns="0" tIns="0" rIns="0" bIns="0" rtlCol="0" anchor="ctr"/>
          <a:lstStyle/>
          <a:p>
            <a:pPr indent="0" marL="0">
              <a:buNone/>
            </a:pPr>
            <a:r>
              <a:rPr lang="en-US" sz="1300" dirty="0">
                <a:solidFill>
                  <a:srgbClr val="4A5A66"/>
                </a:solidFill>
                <a:latin typeface="Calibri" pitchFamily="34" charset="0"/>
                <a:ea typeface="Calibri" pitchFamily="34" charset="-122"/>
                <a:cs typeface="Calibri" pitchFamily="34" charset="-120"/>
              </a:rPr>
              <a:t>Separate 0–100 for policy adherence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2A33"/>
        </a:solidFill>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a:ln/>
        </p:spPr>
        <p:txBody>
          <a:bodyPr wrap="square" lIns="0" tIns="0" rIns="0" bIns="0" rtlCol="0" anchor="ctr"/>
          <a:lstStyle/>
          <a:p>
            <a:pPr indent="0" marL="0">
              <a:buNone/>
            </a:pPr>
            <a:r>
              <a:rPr lang="en-US" sz="1200" b="1" spc="200" kern="0" dirty="0">
                <a:solidFill>
                  <a:srgbClr val="31D2E8"/>
                </a:solidFill>
                <a:latin typeface="Calibri" pitchFamily="34" charset="0"/>
                <a:ea typeface="Calibri" pitchFamily="34" charset="-122"/>
                <a:cs typeface="Calibri" pitchFamily="34" charset="-120"/>
              </a:rPr>
              <a:t>BUILT ON TRUST</a:t>
            </a:r>
            <a:endParaRPr lang="en-US" sz="1200" dirty="0"/>
          </a:p>
        </p:txBody>
      </p:sp>
      <p:sp>
        <p:nvSpPr>
          <p:cNvPr id="3" name="Text 1"/>
          <p:cNvSpPr/>
          <p:nvPr/>
        </p:nvSpPr>
        <p:spPr>
          <a:xfrm>
            <a:off x="822960" y="96012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Fair to the business — and to the team</a:t>
            </a:r>
            <a:endParaRPr lang="en-US" sz="3200" dirty="0"/>
          </a:p>
        </p:txBody>
      </p:sp>
      <p:sp>
        <p:nvSpPr>
          <p:cNvPr id="4" name="Shape 2"/>
          <p:cNvSpPr/>
          <p:nvPr/>
        </p:nvSpPr>
        <p:spPr>
          <a:xfrm>
            <a:off x="822960" y="2057400"/>
            <a:ext cx="3474720" cy="1508760"/>
          </a:xfrm>
          <a:prstGeom prst="roundRect">
            <a:avLst>
              <a:gd name="adj" fmla="val 6061"/>
            </a:avLst>
          </a:prstGeom>
          <a:solidFill>
            <a:srgbClr val="0B3A44"/>
          </a:solidFill>
          <a:ln w="12700">
            <a:solidFill>
              <a:srgbClr val="145865"/>
            </a:solidFill>
            <a:prstDash val="solid"/>
          </a:ln>
        </p:spPr>
      </p:sp>
      <p:sp>
        <p:nvSpPr>
          <p:cNvPr id="5" name="Text 3"/>
          <p:cNvSpPr/>
          <p:nvPr/>
        </p:nvSpPr>
        <p:spPr>
          <a:xfrm>
            <a:off x="1078992" y="224028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Visible, never stealth</a:t>
            </a:r>
            <a:endParaRPr lang="en-US" sz="1500" dirty="0"/>
          </a:p>
        </p:txBody>
      </p:sp>
      <p:sp>
        <p:nvSpPr>
          <p:cNvPr id="6" name="Text 4"/>
          <p:cNvSpPr/>
          <p:nvPr/>
        </p:nvSpPr>
        <p:spPr>
          <a:xfrm>
            <a:off x="1078992" y="262432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The agent is always on-screen; employees see exactly what's running.</a:t>
            </a:r>
            <a:endParaRPr lang="en-US" sz="1250" dirty="0"/>
          </a:p>
        </p:txBody>
      </p:sp>
      <p:sp>
        <p:nvSpPr>
          <p:cNvPr id="7" name="Shape 5"/>
          <p:cNvSpPr/>
          <p:nvPr/>
        </p:nvSpPr>
        <p:spPr>
          <a:xfrm>
            <a:off x="4526280" y="2057400"/>
            <a:ext cx="3474720" cy="1508760"/>
          </a:xfrm>
          <a:prstGeom prst="roundRect">
            <a:avLst>
              <a:gd name="adj" fmla="val 6061"/>
            </a:avLst>
          </a:prstGeom>
          <a:solidFill>
            <a:srgbClr val="0B3A44"/>
          </a:solidFill>
          <a:ln w="12700">
            <a:solidFill>
              <a:srgbClr val="145865"/>
            </a:solidFill>
            <a:prstDash val="solid"/>
          </a:ln>
        </p:spPr>
      </p:sp>
      <p:sp>
        <p:nvSpPr>
          <p:cNvPr id="8" name="Text 6"/>
          <p:cNvSpPr/>
          <p:nvPr/>
        </p:nvSpPr>
        <p:spPr>
          <a:xfrm>
            <a:off x="4782312" y="224028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Consent-based</a:t>
            </a:r>
            <a:endParaRPr lang="en-US" sz="1500" dirty="0"/>
          </a:p>
        </p:txBody>
      </p:sp>
      <p:sp>
        <p:nvSpPr>
          <p:cNvPr id="9" name="Text 7"/>
          <p:cNvSpPr/>
          <p:nvPr/>
        </p:nvSpPr>
        <p:spPr>
          <a:xfrm>
            <a:off x="4782312" y="262432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Tracking starts only after the employee agrees on their PC.</a:t>
            </a:r>
            <a:endParaRPr lang="en-US" sz="1250" dirty="0"/>
          </a:p>
        </p:txBody>
      </p:sp>
      <p:sp>
        <p:nvSpPr>
          <p:cNvPr id="10" name="Shape 8"/>
          <p:cNvSpPr/>
          <p:nvPr/>
        </p:nvSpPr>
        <p:spPr>
          <a:xfrm>
            <a:off x="8229600" y="2057400"/>
            <a:ext cx="3474720" cy="1508760"/>
          </a:xfrm>
          <a:prstGeom prst="roundRect">
            <a:avLst>
              <a:gd name="adj" fmla="val 6061"/>
            </a:avLst>
          </a:prstGeom>
          <a:solidFill>
            <a:srgbClr val="0B3A44"/>
          </a:solidFill>
          <a:ln w="12700">
            <a:solidFill>
              <a:srgbClr val="145865"/>
            </a:solidFill>
            <a:prstDash val="solid"/>
          </a:ln>
        </p:spPr>
      </p:sp>
      <p:sp>
        <p:nvSpPr>
          <p:cNvPr id="11" name="Text 9"/>
          <p:cNvSpPr/>
          <p:nvPr/>
        </p:nvSpPr>
        <p:spPr>
          <a:xfrm>
            <a:off x="8485632" y="224028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Camera = numbers only</a:t>
            </a:r>
            <a:endParaRPr lang="en-US" sz="1500" dirty="0"/>
          </a:p>
        </p:txBody>
      </p:sp>
      <p:sp>
        <p:nvSpPr>
          <p:cNvPr id="12" name="Text 10"/>
          <p:cNvSpPr/>
          <p:nvPr/>
        </p:nvSpPr>
        <p:spPr>
          <a:xfrm>
            <a:off x="8485632" y="262432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Presence is a count and a brightness reading — no photo or video is sent.</a:t>
            </a:r>
            <a:endParaRPr lang="en-US" sz="1250" dirty="0"/>
          </a:p>
        </p:txBody>
      </p:sp>
      <p:sp>
        <p:nvSpPr>
          <p:cNvPr id="13" name="Shape 11"/>
          <p:cNvSpPr/>
          <p:nvPr/>
        </p:nvSpPr>
        <p:spPr>
          <a:xfrm>
            <a:off x="822960" y="3749040"/>
            <a:ext cx="3474720" cy="1508760"/>
          </a:xfrm>
          <a:prstGeom prst="roundRect">
            <a:avLst>
              <a:gd name="adj" fmla="val 6061"/>
            </a:avLst>
          </a:prstGeom>
          <a:solidFill>
            <a:srgbClr val="0B3A44"/>
          </a:solidFill>
          <a:ln w="12700">
            <a:solidFill>
              <a:srgbClr val="145865"/>
            </a:solidFill>
            <a:prstDash val="solid"/>
          </a:ln>
        </p:spPr>
      </p:sp>
      <p:sp>
        <p:nvSpPr>
          <p:cNvPr id="14" name="Text 12"/>
          <p:cNvSpPr/>
          <p:nvPr/>
        </p:nvSpPr>
        <p:spPr>
          <a:xfrm>
            <a:off x="1078992" y="393192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Full audit trail</a:t>
            </a:r>
            <a:endParaRPr lang="en-US" sz="1500" dirty="0"/>
          </a:p>
        </p:txBody>
      </p:sp>
      <p:sp>
        <p:nvSpPr>
          <p:cNvPr id="15" name="Text 13"/>
          <p:cNvSpPr/>
          <p:nvPr/>
        </p:nvSpPr>
        <p:spPr>
          <a:xfrm>
            <a:off x="1078992" y="431596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Every sensitive action and override is recorded and exportable.</a:t>
            </a:r>
            <a:endParaRPr lang="en-US" sz="1250" dirty="0"/>
          </a:p>
        </p:txBody>
      </p:sp>
      <p:sp>
        <p:nvSpPr>
          <p:cNvPr id="16" name="Shape 14"/>
          <p:cNvSpPr/>
          <p:nvPr/>
        </p:nvSpPr>
        <p:spPr>
          <a:xfrm>
            <a:off x="4526280" y="3749040"/>
            <a:ext cx="3474720" cy="1508760"/>
          </a:xfrm>
          <a:prstGeom prst="roundRect">
            <a:avLst>
              <a:gd name="adj" fmla="val 6061"/>
            </a:avLst>
          </a:prstGeom>
          <a:solidFill>
            <a:srgbClr val="0B3A44"/>
          </a:solidFill>
          <a:ln w="12700">
            <a:solidFill>
              <a:srgbClr val="145865"/>
            </a:solidFill>
            <a:prstDash val="solid"/>
          </a:ln>
        </p:spPr>
      </p:sp>
      <p:sp>
        <p:nvSpPr>
          <p:cNvPr id="17" name="Text 15"/>
          <p:cNvSpPr/>
          <p:nvPr/>
        </p:nvSpPr>
        <p:spPr>
          <a:xfrm>
            <a:off x="4782312" y="393192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Role-based access</a:t>
            </a:r>
            <a:endParaRPr lang="en-US" sz="1500" dirty="0"/>
          </a:p>
        </p:txBody>
      </p:sp>
      <p:sp>
        <p:nvSpPr>
          <p:cNvPr id="18" name="Text 16"/>
          <p:cNvSpPr/>
          <p:nvPr/>
        </p:nvSpPr>
        <p:spPr>
          <a:xfrm>
            <a:off x="4782312" y="431596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Managers see only their team; employees see only themselves.</a:t>
            </a:r>
            <a:endParaRPr lang="en-US" sz="1250" dirty="0"/>
          </a:p>
        </p:txBody>
      </p:sp>
      <p:sp>
        <p:nvSpPr>
          <p:cNvPr id="19" name="Shape 17"/>
          <p:cNvSpPr/>
          <p:nvPr/>
        </p:nvSpPr>
        <p:spPr>
          <a:xfrm>
            <a:off x="8229600" y="3749040"/>
            <a:ext cx="3474720" cy="1508760"/>
          </a:xfrm>
          <a:prstGeom prst="roundRect">
            <a:avLst>
              <a:gd name="adj" fmla="val 6061"/>
            </a:avLst>
          </a:prstGeom>
          <a:solidFill>
            <a:srgbClr val="0B3A44"/>
          </a:solidFill>
          <a:ln w="12700">
            <a:solidFill>
              <a:srgbClr val="145865"/>
            </a:solidFill>
            <a:prstDash val="solid"/>
          </a:ln>
        </p:spPr>
      </p:sp>
      <p:sp>
        <p:nvSpPr>
          <p:cNvPr id="20" name="Text 18"/>
          <p:cNvSpPr/>
          <p:nvPr/>
        </p:nvSpPr>
        <p:spPr>
          <a:xfrm>
            <a:off x="8485632" y="3931920"/>
            <a:ext cx="3017520" cy="365760"/>
          </a:xfrm>
          <a:prstGeom prst="rect">
            <a:avLst/>
          </a:prstGeom>
          <a:noFill/>
          <a:ln/>
        </p:spPr>
        <p:txBody>
          <a:bodyPr wrap="square" lIns="0" tIns="0" rIns="0" bIns="0" rtlCol="0" anchor="ctr"/>
          <a:lstStyle/>
          <a:p>
            <a:pPr indent="0" marL="0">
              <a:buNone/>
            </a:pPr>
            <a:r>
              <a:rPr lang="en-US" sz="1500" b="1" dirty="0">
                <a:solidFill>
                  <a:srgbClr val="31D2E8"/>
                </a:solidFill>
                <a:latin typeface="Calibri" pitchFamily="34" charset="0"/>
                <a:ea typeface="Calibri" pitchFamily="34" charset="-122"/>
                <a:cs typeface="Calibri" pitchFamily="34" charset="-120"/>
              </a:rPr>
              <a:t>You control everything</a:t>
            </a:r>
            <a:endParaRPr lang="en-US" sz="1500" dirty="0"/>
          </a:p>
        </p:txBody>
      </p:sp>
      <p:sp>
        <p:nvSpPr>
          <p:cNvPr id="21" name="Text 19"/>
          <p:cNvSpPr/>
          <p:nvPr/>
        </p:nvSpPr>
        <p:spPr>
          <a:xfrm>
            <a:off x="8485632" y="4315968"/>
            <a:ext cx="3063240" cy="868680"/>
          </a:xfrm>
          <a:prstGeom prst="rect">
            <a:avLst/>
          </a:prstGeom>
          <a:noFill/>
          <a:ln/>
        </p:spPr>
        <p:txBody>
          <a:bodyPr wrap="square" lIns="0" tIns="0" rIns="0" bIns="0" rtlCol="0" anchor="ctr"/>
          <a:lstStyle/>
          <a:p>
            <a:pPr indent="0" marL="0">
              <a:buNone/>
            </a:pPr>
            <a:r>
              <a:rPr lang="en-US" sz="1250" dirty="0">
                <a:solidFill>
                  <a:srgbClr val="DCEEF1"/>
                </a:solidFill>
                <a:latin typeface="Calibri" pitchFamily="34" charset="0"/>
                <a:ea typeface="Calibri" pitchFamily="34" charset="-122"/>
                <a:cs typeface="Calibri" pitchFamily="34" charset="-120"/>
              </a:rPr>
              <a:t>Turn each policy on or off; nothing is captured unless you enable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SIMPLE, TRANSPARENT PRICING</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Two ways to buy — your choice of scale</a:t>
            </a:r>
            <a:endParaRPr lang="en-US" sz="3400" dirty="0"/>
          </a:p>
        </p:txBody>
      </p:sp>
      <p:sp>
        <p:nvSpPr>
          <p:cNvPr id="4" name="Shape 2"/>
          <p:cNvSpPr/>
          <p:nvPr/>
        </p:nvSpPr>
        <p:spPr>
          <a:xfrm>
            <a:off x="822960" y="1920240"/>
            <a:ext cx="5120640" cy="3566160"/>
          </a:xfrm>
          <a:prstGeom prst="roundRect">
            <a:avLst>
              <a:gd name="adj" fmla="val 3077"/>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Text 3"/>
          <p:cNvSpPr/>
          <p:nvPr/>
        </p:nvSpPr>
        <p:spPr>
          <a:xfrm>
            <a:off x="1143000" y="2194560"/>
            <a:ext cx="4572000" cy="457200"/>
          </a:xfrm>
          <a:prstGeom prst="rect">
            <a:avLst/>
          </a:prstGeom>
          <a:noFill/>
          <a:ln/>
        </p:spPr>
        <p:txBody>
          <a:bodyPr wrap="square" lIns="0" tIns="0" rIns="0" bIns="0" rtlCol="0" anchor="ctr"/>
          <a:lstStyle/>
          <a:p>
            <a:pPr indent="0" marL="0">
              <a:buNone/>
            </a:pPr>
            <a:r>
              <a:rPr lang="en-US" sz="1800" b="1" dirty="0">
                <a:solidFill>
                  <a:srgbClr val="0E7C8F"/>
                </a:solidFill>
                <a:latin typeface="Calibri" pitchFamily="34" charset="0"/>
                <a:ea typeface="Calibri" pitchFamily="34" charset="-122"/>
                <a:cs typeface="Calibri" pitchFamily="34" charset="-120"/>
              </a:rPr>
              <a:t>Cloud — rent per user / month</a:t>
            </a:r>
            <a:endParaRPr lang="en-US" sz="1800" dirty="0"/>
          </a:p>
        </p:txBody>
      </p:sp>
      <p:sp>
        <p:nvSpPr>
          <p:cNvPr id="6" name="Text 4"/>
          <p:cNvSpPr/>
          <p:nvPr/>
        </p:nvSpPr>
        <p:spPr>
          <a:xfrm>
            <a:off x="1143000" y="2743200"/>
            <a:ext cx="4572000" cy="640080"/>
          </a:xfrm>
          <a:prstGeom prst="rect">
            <a:avLst/>
          </a:prstGeom>
          <a:noFill/>
          <a:ln/>
        </p:spPr>
        <p:txBody>
          <a:bodyPr wrap="square" lIns="0" tIns="0" rIns="0" bIns="0" rtlCol="0" anchor="ctr"/>
          <a:lstStyle/>
          <a:p>
            <a:pPr indent="0" marL="0">
              <a:buNone/>
            </a:pPr>
            <a:r>
              <a:rPr lang="en-US" sz="3000" b="1" dirty="0">
                <a:solidFill>
                  <a:srgbClr val="052A33"/>
                </a:solidFill>
                <a:latin typeface="Calibri" pitchFamily="34" charset="0"/>
                <a:ea typeface="Calibri" pitchFamily="34" charset="-122"/>
                <a:cs typeface="Calibri" pitchFamily="34" charset="-120"/>
              </a:rPr>
              <a:t>from ₹6–45</a:t>
            </a:r>
            <a:pPr indent="0" marL="0">
              <a:buNone/>
            </a:pPr>
            <a:r>
              <a:rPr lang="en-US" sz="1400" dirty="0">
                <a:solidFill>
                  <a:srgbClr val="7A8A94"/>
                </a:solidFill>
                <a:latin typeface="Calibri" pitchFamily="34" charset="0"/>
                <a:ea typeface="Calibri" pitchFamily="34" charset="-122"/>
                <a:cs typeface="Calibri" pitchFamily="34" charset="-120"/>
              </a:rPr>
              <a:t> / user / month</a:t>
            </a:r>
            <a:endParaRPr lang="en-US" sz="3000" dirty="0"/>
          </a:p>
        </p:txBody>
      </p:sp>
      <p:sp>
        <p:nvSpPr>
          <p:cNvPr id="7" name="Text 5"/>
          <p:cNvSpPr/>
          <p:nvPr/>
        </p:nvSpPr>
        <p:spPr>
          <a:xfrm>
            <a:off x="1143000" y="3566160"/>
            <a:ext cx="4480560" cy="384048"/>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  We host, maintain &amp; back it up</a:t>
            </a:r>
            <a:endParaRPr lang="en-US" sz="1350" dirty="0"/>
          </a:p>
        </p:txBody>
      </p:sp>
      <p:sp>
        <p:nvSpPr>
          <p:cNvPr id="8" name="Text 6"/>
          <p:cNvSpPr/>
          <p:nvPr/>
        </p:nvSpPr>
        <p:spPr>
          <a:xfrm>
            <a:off x="1143000" y="4023360"/>
            <a:ext cx="4480560" cy="384048"/>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  Pooled cloud storage included</a:t>
            </a:r>
            <a:endParaRPr lang="en-US" sz="1350" dirty="0"/>
          </a:p>
        </p:txBody>
      </p:sp>
      <p:sp>
        <p:nvSpPr>
          <p:cNvPr id="9" name="Text 7"/>
          <p:cNvSpPr/>
          <p:nvPr/>
        </p:nvSpPr>
        <p:spPr>
          <a:xfrm>
            <a:off x="1143000" y="4480560"/>
            <a:ext cx="4480560" cy="384048"/>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  Cheaper per user as you grow</a:t>
            </a:r>
            <a:endParaRPr lang="en-US" sz="1350" dirty="0"/>
          </a:p>
        </p:txBody>
      </p:sp>
      <p:sp>
        <p:nvSpPr>
          <p:cNvPr id="10" name="Text 8"/>
          <p:cNvSpPr/>
          <p:nvPr/>
        </p:nvSpPr>
        <p:spPr>
          <a:xfrm>
            <a:off x="1143000" y="4937760"/>
            <a:ext cx="4480560" cy="384048"/>
          </a:xfrm>
          <a:prstGeom prst="rect">
            <a:avLst/>
          </a:prstGeom>
          <a:noFill/>
          <a:ln/>
        </p:spPr>
        <p:txBody>
          <a:bodyPr wrap="square" lIns="0" tIns="0" rIns="0" bIns="0" rtlCol="0" anchor="ctr"/>
          <a:lstStyle/>
          <a:p>
            <a:pPr indent="0" marL="0">
              <a:buNone/>
            </a:pPr>
            <a:r>
              <a:rPr lang="en-US" sz="1350" dirty="0">
                <a:solidFill>
                  <a:srgbClr val="4A5A66"/>
                </a:solidFill>
                <a:latin typeface="Calibri" pitchFamily="34" charset="0"/>
                <a:ea typeface="Calibri" pitchFamily="34" charset="-122"/>
                <a:cs typeface="Calibri" pitchFamily="34" charset="-120"/>
              </a:rPr>
              <a:t>✓  Free for the first 7 days</a:t>
            </a:r>
            <a:endParaRPr lang="en-US" sz="1350" dirty="0"/>
          </a:p>
        </p:txBody>
      </p:sp>
      <p:sp>
        <p:nvSpPr>
          <p:cNvPr id="11" name="Shape 9"/>
          <p:cNvSpPr/>
          <p:nvPr/>
        </p:nvSpPr>
        <p:spPr>
          <a:xfrm>
            <a:off x="6263640" y="1920240"/>
            <a:ext cx="5120640" cy="3566160"/>
          </a:xfrm>
          <a:prstGeom prst="roundRect">
            <a:avLst>
              <a:gd name="adj" fmla="val 3077"/>
            </a:avLst>
          </a:prstGeom>
          <a:solidFill>
            <a:srgbClr val="052A33"/>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2" name="Text 10"/>
          <p:cNvSpPr/>
          <p:nvPr/>
        </p:nvSpPr>
        <p:spPr>
          <a:xfrm>
            <a:off x="6583680" y="2194560"/>
            <a:ext cx="4572000" cy="457200"/>
          </a:xfrm>
          <a:prstGeom prst="rect">
            <a:avLst/>
          </a:prstGeom>
          <a:noFill/>
          <a:ln/>
        </p:spPr>
        <p:txBody>
          <a:bodyPr wrap="square" lIns="0" tIns="0" rIns="0" bIns="0" rtlCol="0" anchor="ctr"/>
          <a:lstStyle/>
          <a:p>
            <a:pPr indent="0" marL="0">
              <a:buNone/>
            </a:pPr>
            <a:r>
              <a:rPr lang="en-US" sz="1800" b="1" dirty="0">
                <a:solidFill>
                  <a:srgbClr val="31D2E8"/>
                </a:solidFill>
                <a:latin typeface="Calibri" pitchFamily="34" charset="0"/>
                <a:ea typeface="Calibri" pitchFamily="34" charset="-122"/>
                <a:cs typeface="Calibri" pitchFamily="34" charset="-120"/>
              </a:rPr>
              <a:t>Perpetual — own it once</a:t>
            </a:r>
            <a:endParaRPr lang="en-US" sz="1800" dirty="0"/>
          </a:p>
        </p:txBody>
      </p:sp>
      <p:sp>
        <p:nvSpPr>
          <p:cNvPr id="13" name="Text 11"/>
          <p:cNvSpPr/>
          <p:nvPr/>
        </p:nvSpPr>
        <p:spPr>
          <a:xfrm>
            <a:off x="6583680" y="2743200"/>
            <a:ext cx="45720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₹25,000</a:t>
            </a:r>
            <a:pPr indent="0" marL="0">
              <a:buNone/>
            </a:pPr>
            <a:r>
              <a:rPr lang="en-US" sz="1400" dirty="0">
                <a:solidFill>
                  <a:srgbClr val="CFE3E7"/>
                </a:solidFill>
                <a:latin typeface="Calibri" pitchFamily="34" charset="0"/>
                <a:ea typeface="Calibri" pitchFamily="34" charset="-122"/>
                <a:cs typeface="Calibri" pitchFamily="34" charset="-120"/>
              </a:rPr>
              <a:t> one-time</a:t>
            </a:r>
            <a:endParaRPr lang="en-US" sz="3000" dirty="0"/>
          </a:p>
        </p:txBody>
      </p:sp>
      <p:sp>
        <p:nvSpPr>
          <p:cNvPr id="14" name="Text 12"/>
          <p:cNvSpPr/>
          <p:nvPr/>
        </p:nvSpPr>
        <p:spPr>
          <a:xfrm>
            <a:off x="6583680" y="3566160"/>
            <a:ext cx="4480560" cy="384048"/>
          </a:xfrm>
          <a:prstGeom prst="rect">
            <a:avLst/>
          </a:prstGeom>
          <a:noFill/>
          <a:ln/>
        </p:spPr>
        <p:txBody>
          <a:bodyPr wrap="square" lIns="0" tIns="0" rIns="0" bIns="0" rtlCol="0" anchor="ctr"/>
          <a:lstStyle/>
          <a:p>
            <a:pPr indent="0" marL="0">
              <a:buNone/>
            </a:pPr>
            <a:r>
              <a:rPr lang="en-US" sz="1350" dirty="0">
                <a:solidFill>
                  <a:srgbClr val="DCEEF1"/>
                </a:solidFill>
                <a:latin typeface="Calibri" pitchFamily="34" charset="0"/>
                <a:ea typeface="Calibri" pitchFamily="34" charset="-122"/>
                <a:cs typeface="Calibri" pitchFamily="34" charset="-120"/>
              </a:rPr>
              <a:t>✓  Priced by user capacity</a:t>
            </a:r>
            <a:endParaRPr lang="en-US" sz="1350" dirty="0"/>
          </a:p>
        </p:txBody>
      </p:sp>
      <p:sp>
        <p:nvSpPr>
          <p:cNvPr id="15" name="Text 13"/>
          <p:cNvSpPr/>
          <p:nvPr/>
        </p:nvSpPr>
        <p:spPr>
          <a:xfrm>
            <a:off x="6583680" y="4023360"/>
            <a:ext cx="4480560" cy="384048"/>
          </a:xfrm>
          <a:prstGeom prst="rect">
            <a:avLst/>
          </a:prstGeom>
          <a:noFill/>
          <a:ln/>
        </p:spPr>
        <p:txBody>
          <a:bodyPr wrap="square" lIns="0" tIns="0" rIns="0" bIns="0" rtlCol="0" anchor="ctr"/>
          <a:lstStyle/>
          <a:p>
            <a:pPr indent="0" marL="0">
              <a:buNone/>
            </a:pPr>
            <a:r>
              <a:rPr lang="en-US" sz="1350" dirty="0">
                <a:solidFill>
                  <a:srgbClr val="DCEEF1"/>
                </a:solidFill>
                <a:latin typeface="Calibri" pitchFamily="34" charset="0"/>
                <a:ea typeface="Calibri" pitchFamily="34" charset="-122"/>
                <a:cs typeface="Calibri" pitchFamily="34" charset="-120"/>
              </a:rPr>
              <a:t>✓  Licence never expires</a:t>
            </a:r>
            <a:endParaRPr lang="en-US" sz="1350" dirty="0"/>
          </a:p>
        </p:txBody>
      </p:sp>
      <p:sp>
        <p:nvSpPr>
          <p:cNvPr id="16" name="Text 14"/>
          <p:cNvSpPr/>
          <p:nvPr/>
        </p:nvSpPr>
        <p:spPr>
          <a:xfrm>
            <a:off x="6583680" y="4480560"/>
            <a:ext cx="4480560" cy="384048"/>
          </a:xfrm>
          <a:prstGeom prst="rect">
            <a:avLst/>
          </a:prstGeom>
          <a:noFill/>
          <a:ln/>
        </p:spPr>
        <p:txBody>
          <a:bodyPr wrap="square" lIns="0" tIns="0" rIns="0" bIns="0" rtlCol="0" anchor="ctr"/>
          <a:lstStyle/>
          <a:p>
            <a:pPr indent="0" marL="0">
              <a:buNone/>
            </a:pPr>
            <a:r>
              <a:rPr lang="en-US" sz="1350" dirty="0">
                <a:solidFill>
                  <a:srgbClr val="DCEEF1"/>
                </a:solidFill>
                <a:latin typeface="Calibri" pitchFamily="34" charset="0"/>
                <a:ea typeface="Calibri" pitchFamily="34" charset="-122"/>
                <a:cs typeface="Calibri" pitchFamily="34" charset="-120"/>
              </a:rPr>
              <a:t>✓  Host it on your own servers</a:t>
            </a:r>
            <a:endParaRPr lang="en-US" sz="1350" dirty="0"/>
          </a:p>
        </p:txBody>
      </p:sp>
      <p:sp>
        <p:nvSpPr>
          <p:cNvPr id="17" name="Text 15"/>
          <p:cNvSpPr/>
          <p:nvPr/>
        </p:nvSpPr>
        <p:spPr>
          <a:xfrm>
            <a:off x="6583680" y="4937760"/>
            <a:ext cx="4480560" cy="384048"/>
          </a:xfrm>
          <a:prstGeom prst="rect">
            <a:avLst/>
          </a:prstGeom>
          <a:noFill/>
          <a:ln/>
        </p:spPr>
        <p:txBody>
          <a:bodyPr wrap="square" lIns="0" tIns="0" rIns="0" bIns="0" rtlCol="0" anchor="ctr"/>
          <a:lstStyle/>
          <a:p>
            <a:pPr indent="0" marL="0">
              <a:buNone/>
            </a:pPr>
            <a:r>
              <a:rPr lang="en-US" sz="1350" dirty="0">
                <a:solidFill>
                  <a:srgbClr val="DCEEF1"/>
                </a:solidFill>
                <a:latin typeface="Calibri" pitchFamily="34" charset="0"/>
                <a:ea typeface="Calibri" pitchFamily="34" charset="-122"/>
                <a:cs typeface="Calibri" pitchFamily="34" charset="-120"/>
              </a:rPr>
              <a:t>✓  Optional AMC for updates</a:t>
            </a:r>
            <a:endParaRPr lang="en-US" sz="1350" dirty="0"/>
          </a:p>
        </p:txBody>
      </p:sp>
      <p:sp>
        <p:nvSpPr>
          <p:cNvPr id="18" name="Text 16"/>
          <p:cNvSpPr/>
          <p:nvPr/>
        </p:nvSpPr>
        <p:spPr>
          <a:xfrm>
            <a:off x="822960" y="5806440"/>
            <a:ext cx="10607040" cy="365760"/>
          </a:xfrm>
          <a:prstGeom prst="rect">
            <a:avLst/>
          </a:prstGeom>
          <a:noFill/>
          <a:ln/>
        </p:spPr>
        <p:txBody>
          <a:bodyPr wrap="square" lIns="0" tIns="0" rIns="0" bIns="0" rtlCol="0" anchor="ctr"/>
          <a:lstStyle/>
          <a:p>
            <a:pPr algn="ctr" indent="0" marL="0">
              <a:buNone/>
            </a:pPr>
            <a:r>
              <a:rPr lang="en-US" sz="1250" i="1" dirty="0">
                <a:solidFill>
                  <a:srgbClr val="4A5A66"/>
                </a:solidFill>
                <a:latin typeface="Calibri" pitchFamily="34" charset="0"/>
                <a:ea typeface="Calibri" pitchFamily="34" charset="-122"/>
                <a:cs typeface="Calibri" pitchFamily="34" charset="-120"/>
              </a:rPr>
              <a:t>Every feature included in both · setup is separate · GST invoice on everything · prices admin-configurable.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22960" y="502920"/>
            <a:ext cx="8229600" cy="274320"/>
          </a:xfrm>
          <a:prstGeom prst="rect">
            <a:avLst/>
          </a:prstGeom>
          <a:noFill/>
          <a:ln/>
        </p:spPr>
        <p:txBody>
          <a:bodyPr wrap="square" lIns="0" tIns="0" rIns="0" bIns="0" rtlCol="0" anchor="ctr"/>
          <a:lstStyle/>
          <a:p>
            <a:pPr indent="0" marL="0">
              <a:buNone/>
            </a:pPr>
            <a:r>
              <a:rPr lang="en-US" sz="1200" b="1" spc="200" kern="0" dirty="0">
                <a:solidFill>
                  <a:srgbClr val="0E7C8F"/>
                </a:solidFill>
                <a:latin typeface="Calibri" pitchFamily="34" charset="0"/>
                <a:ea typeface="Calibri" pitchFamily="34" charset="-122"/>
                <a:cs typeface="Calibri" pitchFamily="34" charset="-120"/>
              </a:rPr>
              <a:t>WHY AMETECS</a:t>
            </a:r>
            <a:endParaRPr lang="en-US" sz="1200" dirty="0"/>
          </a:p>
        </p:txBody>
      </p:sp>
      <p:sp>
        <p:nvSpPr>
          <p:cNvPr id="3" name="Text 1"/>
          <p:cNvSpPr/>
          <p:nvPr/>
        </p:nvSpPr>
        <p:spPr>
          <a:xfrm>
            <a:off x="822960" y="822960"/>
            <a:ext cx="10972800" cy="914400"/>
          </a:xfrm>
          <a:prstGeom prst="rect">
            <a:avLst/>
          </a:prstGeom>
          <a:noFill/>
          <a:ln/>
        </p:spPr>
        <p:txBody>
          <a:bodyPr wrap="square" lIns="0" tIns="0" rIns="0" bIns="0" rtlCol="0" anchor="ctr"/>
          <a:lstStyle/>
          <a:p>
            <a:pPr indent="0" marL="0">
              <a:buNone/>
            </a:pPr>
            <a:r>
              <a:rPr lang="en-US" sz="3400" b="1" dirty="0">
                <a:solidFill>
                  <a:srgbClr val="052A33"/>
                </a:solidFill>
                <a:latin typeface="Calibri" pitchFamily="34" charset="0"/>
                <a:ea typeface="Calibri" pitchFamily="34" charset="-122"/>
                <a:cs typeface="Calibri" pitchFamily="34" charset="-120"/>
              </a:rPr>
              <a:t>Built in India, for Indian businesses</a:t>
            </a:r>
            <a:endParaRPr lang="en-US" sz="3400" dirty="0"/>
          </a:p>
        </p:txBody>
      </p:sp>
      <p:sp>
        <p:nvSpPr>
          <p:cNvPr id="4" name="Shape 2"/>
          <p:cNvSpPr/>
          <p:nvPr/>
        </p:nvSpPr>
        <p:spPr>
          <a:xfrm>
            <a:off x="822960" y="1965960"/>
            <a:ext cx="3474720" cy="2194560"/>
          </a:xfrm>
          <a:prstGeom prst="roundRect">
            <a:avLst>
              <a:gd name="adj" fmla="val 5000"/>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5" name="Text 3"/>
          <p:cNvSpPr/>
          <p:nvPr/>
        </p:nvSpPr>
        <p:spPr>
          <a:xfrm>
            <a:off x="1097280" y="2286000"/>
            <a:ext cx="2926080" cy="822960"/>
          </a:xfrm>
          <a:prstGeom prst="rect">
            <a:avLst/>
          </a:prstGeom>
          <a:noFill/>
          <a:ln/>
        </p:spPr>
        <p:txBody>
          <a:bodyPr wrap="square" lIns="0" tIns="0" rIns="0" bIns="0" rtlCol="0" anchor="ctr"/>
          <a:lstStyle/>
          <a:p>
            <a:pPr indent="0" marL="0">
              <a:buNone/>
            </a:pPr>
            <a:r>
              <a:rPr lang="en-US" sz="4400" b="1" dirty="0">
                <a:solidFill>
                  <a:srgbClr val="0E7C8F"/>
                </a:solidFill>
                <a:latin typeface="Calibri" pitchFamily="34" charset="0"/>
                <a:ea typeface="Calibri" pitchFamily="34" charset="-122"/>
                <a:cs typeface="Calibri" pitchFamily="34" charset="-120"/>
              </a:rPr>
              <a:t>300+</a:t>
            </a:r>
            <a:endParaRPr lang="en-US" sz="4400" dirty="0"/>
          </a:p>
        </p:txBody>
      </p:sp>
      <p:sp>
        <p:nvSpPr>
          <p:cNvPr id="6" name="Text 4"/>
          <p:cNvSpPr/>
          <p:nvPr/>
        </p:nvSpPr>
        <p:spPr>
          <a:xfrm>
            <a:off x="1097280" y="3200400"/>
            <a:ext cx="2971800" cy="82296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businesses already trust Ametecs products</a:t>
            </a:r>
            <a:endParaRPr lang="en-US" sz="1400" dirty="0"/>
          </a:p>
        </p:txBody>
      </p:sp>
      <p:sp>
        <p:nvSpPr>
          <p:cNvPr id="7" name="Shape 5"/>
          <p:cNvSpPr/>
          <p:nvPr/>
        </p:nvSpPr>
        <p:spPr>
          <a:xfrm>
            <a:off x="4526280" y="1965960"/>
            <a:ext cx="3474720" cy="2194560"/>
          </a:xfrm>
          <a:prstGeom prst="roundRect">
            <a:avLst>
              <a:gd name="adj" fmla="val 5000"/>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8" name="Text 6"/>
          <p:cNvSpPr/>
          <p:nvPr/>
        </p:nvSpPr>
        <p:spPr>
          <a:xfrm>
            <a:off x="4800600" y="2286000"/>
            <a:ext cx="2926080" cy="822960"/>
          </a:xfrm>
          <a:prstGeom prst="rect">
            <a:avLst/>
          </a:prstGeom>
          <a:noFill/>
          <a:ln/>
        </p:spPr>
        <p:txBody>
          <a:bodyPr wrap="square" lIns="0" tIns="0" rIns="0" bIns="0" rtlCol="0" anchor="ctr"/>
          <a:lstStyle/>
          <a:p>
            <a:pPr indent="0" marL="0">
              <a:buNone/>
            </a:pPr>
            <a:r>
              <a:rPr lang="en-US" sz="4400" b="1" dirty="0">
                <a:solidFill>
                  <a:srgbClr val="0E7C8F"/>
                </a:solidFill>
                <a:latin typeface="Calibri" pitchFamily="34" charset="0"/>
                <a:ea typeface="Calibri" pitchFamily="34" charset="-122"/>
                <a:cs typeface="Calibri" pitchFamily="34" charset="-120"/>
              </a:rPr>
              <a:t>GST</a:t>
            </a:r>
            <a:endParaRPr lang="en-US" sz="4400" dirty="0"/>
          </a:p>
        </p:txBody>
      </p:sp>
      <p:sp>
        <p:nvSpPr>
          <p:cNvPr id="9" name="Text 7"/>
          <p:cNvSpPr/>
          <p:nvPr/>
        </p:nvSpPr>
        <p:spPr>
          <a:xfrm>
            <a:off x="4800600" y="3200400"/>
            <a:ext cx="2971800" cy="82296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ready invoicing, PF/ESI/statutory context</a:t>
            </a:r>
            <a:endParaRPr lang="en-US" sz="1400" dirty="0"/>
          </a:p>
        </p:txBody>
      </p:sp>
      <p:sp>
        <p:nvSpPr>
          <p:cNvPr id="10" name="Shape 8"/>
          <p:cNvSpPr/>
          <p:nvPr/>
        </p:nvSpPr>
        <p:spPr>
          <a:xfrm>
            <a:off x="8229600" y="1965960"/>
            <a:ext cx="3474720" cy="2194560"/>
          </a:xfrm>
          <a:prstGeom prst="roundRect">
            <a:avLst>
              <a:gd name="adj" fmla="val 5000"/>
            </a:avLst>
          </a:prstGeom>
          <a:solidFill>
            <a:srgbClr val="FFFFFF"/>
          </a:solidFill>
          <a:ln w="9525">
            <a:solidFill>
              <a:srgbClr val="E5E1D8"/>
            </a:solidFill>
            <a:prstDash val="solid"/>
          </a:ln>
          <a:effectLst>
            <a:outerShdw sx="100000" sy="100000" kx="0" ky="0" algn="bl" rotWithShape="0" blurRad="114300" dist="38100" dir="5400000">
              <a:srgbClr val="0A2A33">
                <a:alpha val="16000"/>
              </a:srgbClr>
            </a:outerShdw>
          </a:effectLst>
        </p:spPr>
      </p:sp>
      <p:sp>
        <p:nvSpPr>
          <p:cNvPr id="11" name="Text 9"/>
          <p:cNvSpPr/>
          <p:nvPr/>
        </p:nvSpPr>
        <p:spPr>
          <a:xfrm>
            <a:off x="8503920" y="2286000"/>
            <a:ext cx="2926080" cy="822960"/>
          </a:xfrm>
          <a:prstGeom prst="rect">
            <a:avLst/>
          </a:prstGeom>
          <a:noFill/>
          <a:ln/>
        </p:spPr>
        <p:txBody>
          <a:bodyPr wrap="square" lIns="0" tIns="0" rIns="0" bIns="0" rtlCol="0" anchor="ctr"/>
          <a:lstStyle/>
          <a:p>
            <a:pPr indent="0" marL="0">
              <a:buNone/>
            </a:pPr>
            <a:r>
              <a:rPr lang="en-US" sz="4400" b="1" dirty="0">
                <a:solidFill>
                  <a:srgbClr val="0E7C8F"/>
                </a:solidFill>
                <a:latin typeface="Calibri" pitchFamily="34" charset="0"/>
                <a:ea typeface="Calibri" pitchFamily="34" charset="-122"/>
                <a:cs typeface="Calibri" pitchFamily="34" charset="-120"/>
              </a:rPr>
              <a:t>3</a:t>
            </a:r>
            <a:endParaRPr lang="en-US" sz="4400" dirty="0"/>
          </a:p>
        </p:txBody>
      </p:sp>
      <p:sp>
        <p:nvSpPr>
          <p:cNvPr id="12" name="Text 10"/>
          <p:cNvSpPr/>
          <p:nvPr/>
        </p:nvSpPr>
        <p:spPr>
          <a:xfrm>
            <a:off x="8503920" y="3200400"/>
            <a:ext cx="2971800" cy="822960"/>
          </a:xfrm>
          <a:prstGeom prst="rect">
            <a:avLst/>
          </a:prstGeom>
          <a:noFill/>
          <a:ln/>
        </p:spPr>
        <p:txBody>
          <a:bodyPr wrap="square" lIns="0" tIns="0" rIns="0" bIns="0" rtlCol="0" anchor="ctr"/>
          <a:lstStyle/>
          <a:p>
            <a:pPr indent="0" marL="0">
              <a:buNone/>
            </a:pPr>
            <a:r>
              <a:rPr lang="en-US" sz="1400" dirty="0">
                <a:solidFill>
                  <a:srgbClr val="4A5A66"/>
                </a:solidFill>
                <a:latin typeface="Calibri" pitchFamily="34" charset="0"/>
                <a:ea typeface="Calibri" pitchFamily="34" charset="-122"/>
                <a:cs typeface="Calibri" pitchFamily="34" charset="-120"/>
              </a:rPr>
              <a:t>languages of support — English, Telugu, Hindi</a:t>
            </a:r>
            <a:endParaRPr lang="en-US" sz="1400" dirty="0"/>
          </a:p>
        </p:txBody>
      </p:sp>
      <p:sp>
        <p:nvSpPr>
          <p:cNvPr id="13" name="Text 11"/>
          <p:cNvSpPr/>
          <p:nvPr/>
        </p:nvSpPr>
        <p:spPr>
          <a:xfrm>
            <a:off x="822960" y="4572000"/>
            <a:ext cx="10515600" cy="914400"/>
          </a:xfrm>
          <a:prstGeom prst="rect">
            <a:avLst/>
          </a:prstGeom>
          <a:noFill/>
          <a:ln/>
        </p:spPr>
        <p:txBody>
          <a:bodyPr wrap="square" lIns="0" tIns="0" rIns="0" bIns="0" rtlCol="0" anchor="ctr"/>
          <a:lstStyle/>
          <a:p>
            <a:pPr indent="0" marL="0">
              <a:buNone/>
            </a:pPr>
            <a:r>
              <a:rPr lang="en-US" sz="1500" dirty="0">
                <a:solidFill>
                  <a:srgbClr val="4A5A66"/>
                </a:solidFill>
                <a:latin typeface="Calibri" pitchFamily="34" charset="0"/>
                <a:ea typeface="Calibri" pitchFamily="34" charset="-122"/>
                <a:cs typeface="Calibri" pitchFamily="34" charset="-120"/>
              </a:rPr>
              <a:t>SmartEPT joins SmartDCM (debt-collection CRM) and SmartPRS (HRM &amp; payroll) — one family, one standard of quality, and it integrates with them when you need 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2A33"/>
        </a:solidFill>
      </p:bgPr>
    </p:bg>
    <p:spTree>
      <p:nvGrpSpPr>
        <p:cNvPr id="1" name=""/>
        <p:cNvGrpSpPr/>
        <p:nvPr/>
      </p:nvGrpSpPr>
      <p:grpSpPr>
        <a:xfrm>
          <a:off x="0" y="0"/>
          <a:ext cx="0" cy="0"/>
          <a:chOff x="0" y="0"/>
          <a:chExt cx="0" cy="0"/>
        </a:xfrm>
      </p:grpSpPr>
      <p:sp>
        <p:nvSpPr>
          <p:cNvPr id="2" name="Shape 0"/>
          <p:cNvSpPr/>
          <p:nvPr/>
        </p:nvSpPr>
        <p:spPr>
          <a:xfrm>
            <a:off x="9692640" y="-1554480"/>
            <a:ext cx="4389120" cy="4389120"/>
          </a:xfrm>
          <a:prstGeom prst="ellipse">
            <a:avLst/>
          </a:prstGeom>
          <a:solidFill>
            <a:srgbClr val="0E7C8F"/>
          </a:solidFill>
          <a:ln/>
        </p:spPr>
      </p:sp>
      <p:sp>
        <p:nvSpPr>
          <p:cNvPr id="3" name="Shape 1"/>
          <p:cNvSpPr/>
          <p:nvPr/>
        </p:nvSpPr>
        <p:spPr>
          <a:xfrm>
            <a:off x="-1188720" y="4754880"/>
            <a:ext cx="3657600" cy="3657600"/>
          </a:xfrm>
          <a:prstGeom prst="ellipse">
            <a:avLst/>
          </a:prstGeom>
          <a:solidFill>
            <a:srgbClr val="0B4A56"/>
          </a:solidFill>
          <a:ln/>
        </p:spPr>
      </p:sp>
      <p:pic>
        <p:nvPicPr>
          <p:cNvPr id="4" name="Image 0" descr="/tmp/mkdoc/logo-light.png">    </p:cNvPr>
          <p:cNvPicPr>
            <a:picLocks noChangeAspect="1"/>
          </p:cNvPicPr>
          <p:nvPr/>
        </p:nvPicPr>
        <p:blipFill>
          <a:blip r:embed="rId1"/>
          <a:stretch>
            <a:fillRect/>
          </a:stretch>
        </p:blipFill>
        <p:spPr>
          <a:xfrm>
            <a:off x="822960" y="731520"/>
            <a:ext cx="2286000" cy="1652954"/>
          </a:xfrm>
          <a:prstGeom prst="rect">
            <a:avLst/>
          </a:prstGeom>
        </p:spPr>
      </p:pic>
      <p:sp>
        <p:nvSpPr>
          <p:cNvPr id="5" name="Text 2"/>
          <p:cNvSpPr/>
          <p:nvPr/>
        </p:nvSpPr>
        <p:spPr>
          <a:xfrm>
            <a:off x="822960" y="265176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Fall in love in one demo.</a:t>
            </a:r>
            <a:endParaRPr lang="en-US" sz="4000" dirty="0"/>
          </a:p>
        </p:txBody>
      </p:sp>
      <p:sp>
        <p:nvSpPr>
          <p:cNvPr id="6" name="Text 3"/>
          <p:cNvSpPr/>
          <p:nvPr/>
        </p:nvSpPr>
        <p:spPr>
          <a:xfrm>
            <a:off x="822960" y="3611880"/>
            <a:ext cx="8778240" cy="822960"/>
          </a:xfrm>
          <a:prstGeom prst="rect">
            <a:avLst/>
          </a:prstGeom>
          <a:noFill/>
          <a:ln/>
        </p:spPr>
        <p:txBody>
          <a:bodyPr wrap="square" lIns="0" tIns="0" rIns="0" bIns="0" rtlCol="0" anchor="ctr"/>
          <a:lstStyle/>
          <a:p>
            <a:pPr indent="0" marL="0">
              <a:buNone/>
            </a:pPr>
            <a:r>
              <a:rPr lang="en-US" sz="1600" dirty="0">
                <a:solidFill>
                  <a:srgbClr val="CFE3E7"/>
                </a:solidFill>
                <a:latin typeface="Calibri" pitchFamily="34" charset="0"/>
                <a:ea typeface="Calibri" pitchFamily="34" charset="-122"/>
                <a:cs typeface="Calibri" pitchFamily="34" charset="-120"/>
              </a:rPr>
              <a:t>Start a free 7-day trial, or let us walk you through it live. Cloud or on your own servers — every feature on from day one.</a:t>
            </a:r>
            <a:endParaRPr lang="en-US" sz="1600" dirty="0"/>
          </a:p>
        </p:txBody>
      </p:sp>
      <p:sp>
        <p:nvSpPr>
          <p:cNvPr id="7" name="Shape 4"/>
          <p:cNvSpPr/>
          <p:nvPr/>
        </p:nvSpPr>
        <p:spPr>
          <a:xfrm>
            <a:off x="822960" y="4754880"/>
            <a:ext cx="3840480" cy="777240"/>
          </a:xfrm>
          <a:prstGeom prst="roundRect">
            <a:avLst>
              <a:gd name="adj" fmla="val 49412"/>
            </a:avLst>
          </a:prstGeom>
          <a:solidFill>
            <a:srgbClr val="31D2E8"/>
          </a:solidFill>
          <a:ln/>
        </p:spPr>
      </p:sp>
      <p:sp>
        <p:nvSpPr>
          <p:cNvPr id="8" name="Text 5"/>
          <p:cNvSpPr/>
          <p:nvPr/>
        </p:nvSpPr>
        <p:spPr>
          <a:xfrm>
            <a:off x="822960" y="4754880"/>
            <a:ext cx="3840480" cy="777240"/>
          </a:xfrm>
          <a:prstGeom prst="rect">
            <a:avLst/>
          </a:prstGeom>
          <a:noFill/>
          <a:ln/>
        </p:spPr>
        <p:txBody>
          <a:bodyPr wrap="square" lIns="0" tIns="0" rIns="0" bIns="0" rtlCol="0" anchor="ctr"/>
          <a:lstStyle/>
          <a:p>
            <a:pPr algn="ctr" indent="0" marL="0">
              <a:buNone/>
            </a:pPr>
            <a:r>
              <a:rPr lang="en-US" sz="1800" b="1" dirty="0">
                <a:solidFill>
                  <a:srgbClr val="052A33"/>
                </a:solidFill>
                <a:latin typeface="Calibri" pitchFamily="34" charset="0"/>
                <a:ea typeface="Calibri" pitchFamily="34" charset="-122"/>
                <a:cs typeface="Calibri" pitchFamily="34" charset="-120"/>
              </a:rPr>
              <a:t>WhatsApp  90000 98877</a:t>
            </a:r>
            <a:endParaRPr lang="en-US" sz="1800" dirty="0"/>
          </a:p>
        </p:txBody>
      </p:sp>
      <p:sp>
        <p:nvSpPr>
          <p:cNvPr id="9" name="Text 6"/>
          <p:cNvSpPr/>
          <p:nvPr/>
        </p:nvSpPr>
        <p:spPr>
          <a:xfrm>
            <a:off x="4937760" y="5029200"/>
            <a:ext cx="676656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sales@ametecsindia.com</a:t>
            </a:r>
            <a:pPr indent="0" marL="0">
              <a:buNone/>
            </a:pPr>
            <a:r>
              <a:rPr lang="en-US" sz="1250" dirty="0">
                <a:solidFill>
                  <a:srgbClr val="9FC5CC"/>
                </a:solidFill>
                <a:latin typeface="Calibri" pitchFamily="34" charset="0"/>
                <a:ea typeface="Calibri" pitchFamily="34" charset="-122"/>
                <a:cs typeface="Calibri" pitchFamily="34" charset="-120"/>
              </a:rPr>
              <a:t>    ·    M/s. Ametecs India Private Limited, Hyderabad    ·    GST 36AAHCT0971F1ZB</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2026-08-02T22:07:44Z</dcterms:created>
  <dcterms:modified xsi:type="dcterms:W3CDTF">2026-08-02T22:07:44Z</dcterms:modified>
</cp:coreProperties>
</file>